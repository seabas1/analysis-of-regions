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Население, тыс. человек</c:v>
                </c:pt>
              </c:strCache>
            </c:strRef>
          </c:tx>
          <c:spPr>
            <a:solidFill>
              <a:srgbClr val="C0504D"/>
            </a:solidFill>
          </c:spPr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2015</c:v>
                </c:pt>
                <c:pt idx="2">
                  <c:v>2020</c:v>
                </c:pt>
                <c:pt idx="3">
                  <c:v>2022</c:v>
                </c:pt>
                <c:pt idx="4">
                  <c:v>2023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2519.3</c:v>
                </c:pt>
                <c:pt idx="1">
                  <c:v>2518.6</c:v>
                </c:pt>
                <c:pt idx="2">
                  <c:v>2457.6</c:v>
                </c:pt>
                <c:pt idx="3">
                  <c:v>2404.9</c:v>
                </c:pt>
                <c:pt idx="4">
                  <c:v>2385.2</c:v>
                </c:pt>
              </c:numCache>
            </c:numRef>
          </c:val>
          <c:smooth val="0"/>
        </c:ser>
        <c:dLbls>
          <c:numFmt formatCode="# ##0" sourceLinked="0"/>
          <c:txPr>
            <a:bodyPr/>
            <a:lstStyle/>
            <a:p>
              <a:pPr>
                <a:defRPr sz="1000" b="1">
                  <a:solidFill>
                    <a:srgbClr val="1F3564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ВРП, млрд ₽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2015</c:v>
                </c:pt>
                <c:pt idx="2">
                  <c:v>2020</c:v>
                </c:pt>
                <c:pt idx="3">
                  <c:v>2022</c:v>
                </c:pt>
                <c:pt idx="4">
                  <c:v>2023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376.2</c:v>
                </c:pt>
                <c:pt idx="1">
                  <c:v>625.2</c:v>
                </c:pt>
                <c:pt idx="2">
                  <c:v>856.5</c:v>
                </c:pt>
                <c:pt idx="3">
                  <c:v>1176.2</c:v>
                </c:pt>
                <c:pt idx="4">
                  <c:v>1345.1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000" b="1">
                  <a:solidFill>
                    <a:srgbClr val="1F3564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млрд ₽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Sheet1!$A$2:$A$5</c:f>
              <c:strCache>
                <c:ptCount val="4"/>
                <c:pt idx="0">
                  <c:v>Обрабатывающие
производства</c:v>
                </c:pt>
                <c:pt idx="1">
                  <c:v>Обеспечение
электроэнергией</c:v>
                </c:pt>
                <c:pt idx="2">
                  <c:v>Добыча полезных
ископаемых</c:v>
                </c:pt>
                <c:pt idx="3">
                  <c:v>Водоснабжение,
водоотведение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799.0</c:v>
                </c:pt>
                <c:pt idx="1">
                  <c:v>148.0</c:v>
                </c:pt>
                <c:pt idx="2">
                  <c:v>70.4</c:v>
                </c:pt>
                <c:pt idx="3">
                  <c:v>21.9</c:v>
                </c:pt>
              </c:numCache>
            </c:numRef>
          </c:val>
        </c:ser>
        <c:dLbls>
          <c:numFmt formatCode="# ##0.0" sourceLinked="0"/>
          <c:txPr>
            <a:bodyPr/>
            <a:lstStyle/>
            <a:p>
              <a:pPr>
                <a:defRPr sz="1100" b="1">
                  <a:solidFill>
                    <a:srgbClr val="1F3564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тыс. человек</c:v>
                </c:pt>
              </c:strCache>
            </c:strRef>
          </c:tx>
          <c:spPr>
            <a:solidFill>
              <a:srgbClr val="548235"/>
            </a:solidFill>
          </c:spPr>
          <c:cat>
            <c:strRef>
              <c:f>Sheet1!$A$2:$A$8</c:f>
              <c:strCache>
                <c:ptCount val="7"/>
                <c:pt idx="0">
                  <c:v>Торговля оптовая и розничная</c:v>
                </c:pt>
                <c:pt idx="1">
                  <c:v>Обрабатывающие производства</c:v>
                </c:pt>
                <c:pt idx="2">
                  <c:v>Транспортировка и хранение</c:v>
                </c:pt>
                <c:pt idx="3">
                  <c:v>Образование</c:v>
                </c:pt>
                <c:pt idx="4">
                  <c:v>Сельское хозяйство</c:v>
                </c:pt>
                <c:pt idx="5">
                  <c:v>Строительство</c:v>
                </c:pt>
                <c:pt idx="6">
                  <c:v>Здравоохранение и соцуслуги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234.6</c:v>
                </c:pt>
                <c:pt idx="1">
                  <c:v>154.4</c:v>
                </c:pt>
                <c:pt idx="2">
                  <c:v>92.4</c:v>
                </c:pt>
                <c:pt idx="3">
                  <c:v>90.7</c:v>
                </c:pt>
                <c:pt idx="4">
                  <c:v>90.2</c:v>
                </c:pt>
                <c:pt idx="5">
                  <c:v>88.7</c:v>
                </c:pt>
                <c:pt idx="6">
                  <c:v>81.7</c:v>
                </c:pt>
              </c:numCache>
            </c:numRef>
          </c:val>
        </c:ser>
        <c:dLbls>
          <c:numFmt formatCode="# ##0.0" sourceLinked="0"/>
          <c:txPr>
            <a:bodyPr/>
            <a:lstStyle/>
            <a:p>
              <a:pPr>
                <a:defRPr sz="1100" b="1">
                  <a:solidFill>
                    <a:srgbClr val="1F3564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Вклады, млрд ₽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2011</c:v>
                </c:pt>
                <c:pt idx="1">
                  <c:v>2016</c:v>
                </c:pt>
                <c:pt idx="2">
                  <c:v>2021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97.3</c:v>
                </c:pt>
                <c:pt idx="1">
                  <c:v>209.8</c:v>
                </c:pt>
                <c:pt idx="2">
                  <c:v>293.9</c:v>
                </c:pt>
                <c:pt idx="3">
                  <c:v>404.1</c:v>
                </c:pt>
                <c:pt idx="4">
                  <c:v>453.7</c:v>
                </c:pt>
                <c:pt idx="5">
                  <c:v>585.1</c:v>
                </c:pt>
              </c:numCache>
            </c:numRef>
          </c:val>
        </c:ser>
        <c:dLbls>
          <c:numFmt formatCode="# ##0.0" sourceLinked="0"/>
          <c:txPr>
            <a:bodyPr/>
            <a:lstStyle/>
            <a:p>
              <a:pPr>
                <a:defRPr sz="1000" b="1">
                  <a:solidFill>
                    <a:srgbClr val="1F3564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ВРП</c:v>
                </c:pt>
              </c:strCache>
            </c:strRef>
          </c:tx>
          <c:dPt>
            <c:idx val="0"/>
            <c:spPr>
              <a:solidFill>
                <a:srgbClr val="548235"/>
              </a:solidFill>
            </c:spPr>
          </c:dPt>
          <c:dPt>
            <c:idx val="1"/>
            <c:spPr>
              <a:solidFill>
                <a:srgbClr val="2E74B5"/>
              </a:solidFill>
            </c:spPr>
          </c:dPt>
          <c:dPt>
            <c:idx val="2"/>
            <c:spPr>
              <a:solidFill>
                <a:srgbClr val="C0504D"/>
              </a:solidFill>
            </c:spPr>
          </c:dPt>
          <c:cat>
            <c:strRef>
              <c:f>Sheet1!$A$2:$A$4</c:f>
              <c:strCache>
                <c:ptCount val="3"/>
                <c:pt idx="0">
                  <c:v>Первичный</c:v>
                </c:pt>
                <c:pt idx="1">
                  <c:v>Вторичный</c:v>
                </c:pt>
                <c:pt idx="2">
                  <c:v>Третичный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17.6</c:v>
                </c:pt>
                <c:pt idx="1">
                  <c:v>28.3</c:v>
                </c:pt>
                <c:pt idx="2">
                  <c:v>54.1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Занятость</c:v>
                </c:pt>
              </c:strCache>
            </c:strRef>
          </c:tx>
          <c:dPt>
            <c:idx val="0"/>
            <c:spPr>
              <a:solidFill>
                <a:srgbClr val="548235"/>
              </a:solidFill>
            </c:spPr>
          </c:dPt>
          <c:dPt>
            <c:idx val="1"/>
            <c:spPr>
              <a:solidFill>
                <a:srgbClr val="2E74B5"/>
              </a:solidFill>
            </c:spPr>
          </c:dPt>
          <c:dPt>
            <c:idx val="2"/>
            <c:spPr>
              <a:solidFill>
                <a:srgbClr val="C0504D"/>
              </a:solidFill>
            </c:spPr>
          </c:dPt>
          <c:cat>
            <c:strRef>
              <c:f>Sheet1!$A$2:$A$4</c:f>
              <c:strCache>
                <c:ptCount val="3"/>
                <c:pt idx="0">
                  <c:v>Первичный</c:v>
                </c:pt>
                <c:pt idx="1">
                  <c:v>Вторичный</c:v>
                </c:pt>
                <c:pt idx="2">
                  <c:v>Третичный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8.6</c:v>
                </c:pt>
                <c:pt idx="1">
                  <c:v>24.8</c:v>
                </c:pt>
                <c:pt idx="2">
                  <c:v>66.6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ВРП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Sheet1!$A$2:$A$9</c:f>
              <c:strCache>
                <c:ptCount val="8"/>
                <c:pt idx="0">
                  <c:v>Обрабатывающие производства</c:v>
                </c:pt>
                <c:pt idx="1">
                  <c:v>Сельское хозяйство</c:v>
                </c:pt>
                <c:pt idx="2">
                  <c:v>Операции с недвижимостью</c:v>
                </c:pt>
                <c:pt idx="3">
                  <c:v>Торговля оптовая и розничная</c:v>
                </c:pt>
                <c:pt idx="4">
                  <c:v>Транспортировка и хранение</c:v>
                </c:pt>
                <c:pt idx="5">
                  <c:v>Государственное управление</c:v>
                </c:pt>
                <c:pt idx="6">
                  <c:v>Строительство</c:v>
                </c:pt>
                <c:pt idx="7">
                  <c:v>Прочие отрасли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17.6</c:v>
                </c:pt>
                <c:pt idx="1">
                  <c:v>13.8</c:v>
                </c:pt>
                <c:pt idx="2">
                  <c:v>12.5</c:v>
                </c:pt>
                <c:pt idx="3">
                  <c:v>10.8</c:v>
                </c:pt>
                <c:pt idx="4">
                  <c:v>7.0</c:v>
                </c:pt>
                <c:pt idx="5">
                  <c:v>6.7</c:v>
                </c:pt>
                <c:pt idx="6">
                  <c:v>5.8</c:v>
                </c:pt>
                <c:pt idx="7">
                  <c:v>26.2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1F3564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Организации, %</c:v>
                </c:pt>
              </c:strCache>
            </c:strRef>
          </c:tx>
          <c:dPt>
            <c:idx val="0"/>
            <c:spPr>
              <a:solidFill>
                <a:srgbClr val="2E74B5"/>
              </a:solidFill>
            </c:spPr>
          </c:dPt>
          <c:dPt>
            <c:idx val="1"/>
            <c:spPr>
              <a:solidFill>
                <a:srgbClr val="548235"/>
              </a:solidFill>
            </c:spPr>
          </c:dPt>
          <c:dPt>
            <c:idx val="2"/>
            <c:spPr>
              <a:solidFill>
                <a:srgbClr val="C0504D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Частная</c:v>
                </c:pt>
                <c:pt idx="1">
                  <c:v>Муниципальная</c:v>
                </c:pt>
                <c:pt idx="2">
                  <c:v>Государственная</c:v>
                </c:pt>
                <c:pt idx="3">
                  <c:v>Прочие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81.6</c:v>
                </c:pt>
                <c:pt idx="1">
                  <c:v>9.4</c:v>
                </c:pt>
                <c:pt idx="2">
                  <c:v>3.5</c:v>
                </c:pt>
                <c:pt idx="3">
                  <c:v>5.5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Оборот, %</c:v>
                </c:pt>
              </c:strCache>
            </c:strRef>
          </c:tx>
          <c:dPt>
            <c:idx val="0"/>
            <c:spPr>
              <a:solidFill>
                <a:srgbClr val="2E74B5"/>
              </a:solidFill>
            </c:spPr>
          </c:dPt>
          <c:dPt>
            <c:idx val="1"/>
            <c:spPr>
              <a:solidFill>
                <a:srgbClr val="C0504D"/>
              </a:solidFill>
            </c:spPr>
          </c:dPt>
          <c:dPt>
            <c:idx val="2"/>
            <c:spPr>
              <a:solidFill>
                <a:srgbClr val="9E9E9E"/>
              </a:solidFill>
            </c:spPr>
          </c:dPt>
          <c:dPt>
            <c:idx val="3"/>
            <c:spPr>
              <a:solidFill>
                <a:srgbClr val="548235"/>
              </a:solidFill>
            </c:spPr>
          </c:dPt>
          <c:cat>
            <c:strRef>
              <c:f>Sheet1!$A$2:$A$5</c:f>
              <c:strCache>
                <c:ptCount val="4"/>
                <c:pt idx="0">
                  <c:v>Частная</c:v>
                </c:pt>
                <c:pt idx="1">
                  <c:v>Иностранная и совместная</c:v>
                </c:pt>
                <c:pt idx="2">
                  <c:v>Смешанная российская</c:v>
                </c:pt>
                <c:pt idx="3">
                  <c:v>Государственная и муниципальная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79.9</c:v>
                </c:pt>
                <c:pt idx="1">
                  <c:v>12.0</c:v>
                </c:pt>
                <c:pt idx="2">
                  <c:v>4.0</c:v>
                </c:pt>
                <c:pt idx="3">
                  <c:v>3.6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2010</c:v>
                </c:pt>
              </c:strCache>
            </c:strRef>
          </c:tx>
          <c:spPr>
            <a:solidFill>
              <a:srgbClr val="9E9E9E"/>
            </a:solidFill>
          </c:spPr>
          <c:cat>
            <c:strRef>
              <c:f>Sheet1!$A$2:$A$6</c:f>
              <c:strCache>
                <c:ptCount val="5"/>
                <c:pt idx="0">
                  <c:v>Государственная</c:v>
                </c:pt>
                <c:pt idx="1">
                  <c:v>Муниципальная</c:v>
                </c:pt>
                <c:pt idx="2">
                  <c:v>Частная</c:v>
                </c:pt>
                <c:pt idx="3">
                  <c:v>Смешанная российская</c:v>
                </c:pt>
                <c:pt idx="4">
                  <c:v>Иностранная, совместная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29.6</c:v>
                </c:pt>
                <c:pt idx="1">
                  <c:v>21.3</c:v>
                </c:pt>
                <c:pt idx="2">
                  <c:v>40.9</c:v>
                </c:pt>
                <c:pt idx="3">
                  <c:v>3.8</c:v>
                </c:pt>
                <c:pt idx="4">
                  <c:v>4.1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Sheet1!$A$2:$A$6</c:f>
              <c:strCache>
                <c:ptCount val="5"/>
                <c:pt idx="0">
                  <c:v>Государственная</c:v>
                </c:pt>
                <c:pt idx="1">
                  <c:v>Муниципальная</c:v>
                </c:pt>
                <c:pt idx="2">
                  <c:v>Частная</c:v>
                </c:pt>
                <c:pt idx="3">
                  <c:v>Смешанная российская</c:v>
                </c:pt>
                <c:pt idx="4">
                  <c:v>Иностранная, совместная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29.6</c:v>
                </c:pt>
                <c:pt idx="1">
                  <c:v>14.9</c:v>
                </c:pt>
                <c:pt idx="2">
                  <c:v>46.0</c:v>
                </c:pt>
                <c:pt idx="3">
                  <c:v>2.9</c:v>
                </c:pt>
                <c:pt idx="4">
                  <c:v>5.1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 b="1">
                  <a:solidFill>
                    <a:srgbClr val="1F3564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Доклад: экономическое описание Саратовской области по данным официальной статистики. Три разреза заданы преподавателем: рынки (деньги, труд, товар), секторы экономики и формы собственности.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Подчёркиваем: данные официальные и воспроизводимые. ВРП публикуется с лагом, поэтому 2023 год — последний доступный, это нормальная ситуация для региональной статистики.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Инженерная часть работы: каждому источнику соответствует отдельный скрипт, сырые данные сохраняются, повторный запуск использует кэш. Ограничения источников (лимиты API, блокировки, снятые с публикации справочники) зафиксированы в журнале, а не скрыты.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Ключевой слайд для знакомства с регионом. Обращаем внимание: население области медленно сокращается, при этом ВРП растёт быстрее — значит, экономика растёт не за счёт людей.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Рост ВРП частично объясняется инфляцией: в текущих ценах он всегда выглядит внушительно. Поэтому отдельно приводим индекс физического объёма — 104,6%, то есть реальный рост есть, но он умеренный.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заданный разрез. Логика такая: деньги превращаются в инвестиции, труд обеспечивает занятость, товарный рынок показывает результат — сколько регион реально производит и продаёт.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Обратите внимание: добыча даёт всего 70,4 млрд из 1 039,3 — регион не сырьевой. Основа — обрабатывающие производства, то есть переработка.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Торговля — крупнейшая сфера занятости. Это типично для регионов с крупным областным центром. Обрабатывающая промышленность на втором месте — 154,4 тыс. человек.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Рынок денег: банковская сеть области резко сократилась — с 66 филиалов в 2011 году до 3 в 2025-м, при этом вклады выросли с 97 до 585 млрд рублей. Это общероссийский тренд консолидации банковского сектора: отделения заменяются дистанционным обслуживанием.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Ключевой аналитический слайд. Агрегация сделана нами: первичный = сельское хозяйство + добыча, вторичный = обработка + энергетика + водоснабжение + строительство, третичный = все услуги.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Прочие отрасли просуммированы, чтобы диаграмма читалась: там добыча, энергетика, образование, здравоохранение, связь, культура и остальное.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показано, как экономика распределена по территории. Далее можно добавить карту объектов из OpenStreetMap, когда данные будут собраны.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Второй заданный разрез — по формам собственности. Здесь видно, что частный сектор доминирует и по числу организаций, и по обороту.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Показатель «работники организаций по формам собственности» публикуется не каждый год — в сборнике доступны 2010 и 2020 годы. В абсолютном выражении: 716,9 тыс. работников в 2010 г. и 623,0 тыс. в 2020 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Семь выводов — по одному на каждый содержательный блок плюс обобщение. Если нужно уложиться в 10 минут, оставляем 4 главных: секторы, реальный сектор, население, собственность.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Список источников для вопросов преподавателя. Ключевое: ВРП за 2024 год ещё не опубликован, поэтому используется 2023 год.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F3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Экономическое описание региона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9DC3E6"/>
                </a:solidFill>
                <a:latin typeface="Arial"/>
              </a:rPr>
              <a:t>Саратовская область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95959"/>
                </a:solidFill>
                <a:latin typeface="Arial"/>
              </a:rPr>
              <a:t>Три блока анализа: финансовый сектор — рынок труда — рынок товаров и услуг;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95959"/>
                </a:solidFill>
                <a:latin typeface="Arial"/>
              </a:rPr>
              <a:t>дополнительно: первичный—вторичный—третичный сектор и формы собственности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114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F3564"/>
                </a:solidFill>
                <a:latin typeface="Arial"/>
              </a:rPr>
              <a:t>2 385,2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902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595959"/>
                </a:solidFill>
                <a:latin typeface="Arial"/>
              </a:rPr>
              <a:t>тыс. человек — население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77639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4114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F3564"/>
                </a:solidFill>
                <a:latin typeface="Arial"/>
              </a:rPr>
              <a:t>101,2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5902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595959"/>
                </a:solidFill>
                <a:latin typeface="Arial"/>
              </a:rPr>
              <a:t>тыс. км² — площадь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3977639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4114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F3564"/>
                </a:solidFill>
                <a:latin typeface="Arial"/>
              </a:rPr>
              <a:t>1 345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5902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595959"/>
                </a:solidFill>
                <a:latin typeface="Arial"/>
              </a:rPr>
              <a:t>млрд ₽ — ВРП в 2023 г.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3212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Источник: Росстат, «Регионы России. Социально-экономические показатели — 2025»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Данные за 2023–2024 гг. • выгрузка 06.10.2026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3564"/>
                </a:solidFill>
                <a:latin typeface="Arial"/>
              </a:rPr>
              <a:t>Источник данных и методика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Сплошная выборка показателей по одному региону из официального сборника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>
                <a:solidFill>
                  <a:srgbClr val="595959"/>
                </a:solidFill>
                <a:latin typeface="Arial"/>
              </a:rPr>
              <a:t>•  Источники: Росстат (сборник «Регионы России — 2025»), открытые данные портала «Работа в России», OpenStreetMap, статистика Банка России.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595959"/>
                </a:solidFill>
                <a:latin typeface="Arial"/>
              </a:rPr>
              <a:t>•  Сбор и обработка — скриптами на Python: каждому источнику соответствует отдельный парсер, цикл воспроизводится с нуля.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595959"/>
                </a:solidFill>
                <a:latin typeface="Arial"/>
              </a:rPr>
              <a:t>•  Из сборника отобраны 397 таблиц, содержащих строку «Саратовская область».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595959"/>
                </a:solidFill>
                <a:latin typeface="Arial"/>
              </a:rPr>
              <a:t>•  Глубина данных: 2010–2025 гг.; основные показатели — 2024 г., ВРП — 2023 г. (последний опубликованный).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595959"/>
                </a:solidFill>
                <a:latin typeface="Arial"/>
              </a:rPr>
              <a:t>•  Три блока анализа: финансовый сектор, рынок труда, рынок товаров и услуг.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595959"/>
                </a:solidFill>
                <a:latin typeface="Arial"/>
              </a:rPr>
              <a:t>•  Ограничения источников (лимиты API, недоступные сервисы) зафиксированы в журнале сбора данных.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Arial"/>
              </a:rPr>
              <a:t>Росстат, «Регионы России — 2025»; раздел I, главы 2, 3, 9, 10, 12.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3564"/>
                </a:solidFill>
                <a:latin typeface="Arial"/>
              </a:rPr>
              <a:t>Как собраны данные: пайплайн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Каждому источнику — отдельный скрипт; данные и код воспроизводимы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3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840480"/>
                <a:gridCol w="1188720"/>
                <a:gridCol w="3749039"/>
              </a:tblGrid>
              <a:tr h="6629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Блок</a:t>
                      </a:r>
                    </a:p>
                  </a:txBody>
                  <a:tcPr marL="73152" marR="73152" anchor="ctr">
                    <a:solidFill>
                      <a:srgbClr val="1F35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Источник данных</a:t>
                      </a:r>
                    </a:p>
                  </a:txBody>
                  <a:tcPr marL="73152" marR="73152" anchor="ctr">
                    <a:solidFill>
                      <a:srgbClr val="1F35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Скрипт</a:t>
                      </a:r>
                    </a:p>
                  </a:txBody>
                  <a:tcPr marL="73152" marR="73152" anchor="ctr">
                    <a:solidFill>
                      <a:srgbClr val="1F35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Результат парсинга</a:t>
                      </a:r>
                    </a:p>
                  </a:txBody>
                  <a:tcPr marL="73152" marR="73152" anchor="ctr">
                    <a:solidFill>
                      <a:srgbClr val="1F3564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64"/>
                          </a:solidFill>
                          <a:latin typeface="Arial"/>
                        </a:rPr>
                        <a:t>Финансовый сектор</a:t>
                      </a:r>
                    </a:p>
                  </a:txBody>
                  <a:tcPr marL="73152" marR="73152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64"/>
                          </a:solidFill>
                          <a:latin typeface="Arial"/>
                        </a:rPr>
                        <a:t>Банк России (раздел 20 сборника); OpenStreetMap</a:t>
                      </a:r>
                    </a:p>
                  </a:txBody>
                  <a:tcPr marL="73152" marR="73152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64"/>
                          </a:solidFill>
                          <a:latin typeface="Arial"/>
                        </a:rPr>
                        <a:t>02b, 05, 06</a:t>
                      </a:r>
                    </a:p>
                  </a:txBody>
                  <a:tcPr marL="73152" marR="73152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64"/>
                          </a:solidFill>
                          <a:latin typeface="Arial"/>
                        </a:rPr>
                        <a:t>9 таблиц показателей; 547 объектов (банки и банкоматы)</a:t>
                      </a:r>
                    </a:p>
                  </a:txBody>
                  <a:tcPr marL="73152" marR="73152" anchor="ctr">
                    <a:solidFill>
                      <a:srgbClr val="EEF2F8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64"/>
                          </a:solidFill>
                          <a:latin typeface="Arial"/>
                        </a:rPr>
                        <a:t>Рынок труда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64"/>
                          </a:solidFill>
                          <a:latin typeface="Arial"/>
                        </a:rPr>
                        <a:t>API «Работа в России»; Росстат, раздел 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64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64"/>
                          </a:solidFill>
                          <a:latin typeface="Arial"/>
                        </a:rPr>
                        <a:t>4 183 вакансии (52,7% активных), 1 760 профессий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64"/>
                          </a:solidFill>
                          <a:latin typeface="Arial"/>
                        </a:rPr>
                        <a:t>Рынок товаров и услуг</a:t>
                      </a:r>
                    </a:p>
                  </a:txBody>
                  <a:tcPr marL="73152" marR="73152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64"/>
                          </a:solidFill>
                          <a:latin typeface="Arial"/>
                        </a:rPr>
                        <a:t>Росстат, таблица 1.1; OpenStreetMap</a:t>
                      </a:r>
                    </a:p>
                  </a:txBody>
                  <a:tcPr marL="73152" marR="73152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64"/>
                          </a:solidFill>
                          <a:latin typeface="Arial"/>
                        </a:rPr>
                        <a:t>05, 06</a:t>
                      </a:r>
                    </a:p>
                  </a:txBody>
                  <a:tcPr marL="73152" marR="73152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64"/>
                          </a:solidFill>
                          <a:latin typeface="Arial"/>
                        </a:rPr>
                        <a:t>10 стоимостных показателей; 1 885 объектов</a:t>
                      </a:r>
                    </a:p>
                  </a:txBody>
                  <a:tcPr marL="73152" marR="73152" anchor="ctr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Объём обработанных данных: 823 таблицы сборника (из них 397 со строкой «Саратовская область»),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112 млн узлов и 11 млн линий OpenStreetMap, 7 939 активных вакансий. Код — 10 скриптов на Python,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цикл воспроизводится с нуля, промежуточные данные кэшируются.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Arial"/>
              </a:rPr>
              <a:t>Пайплайн: источник → парсер → сырые данные → нормализация → сводные таблицы → отчёт.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3564"/>
                </a:solidFill>
                <a:latin typeface="Arial"/>
              </a:rPr>
              <a:t>Саратовская область в цифрах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2024 г., если не указано иное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622042" cy="123444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46504"/>
            <a:ext cx="24025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F3564"/>
                </a:solidFill>
                <a:latin typeface="Arial"/>
              </a:rPr>
              <a:t>101,2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13432"/>
            <a:ext cx="24025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тыс. км²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площадь территории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1850" y="1600200"/>
            <a:ext cx="2622042" cy="123444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81578" y="1746504"/>
            <a:ext cx="24025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F3564"/>
                </a:solidFill>
                <a:latin typeface="Arial"/>
              </a:rPr>
              <a:t>2 385,2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1578" y="2313432"/>
            <a:ext cx="24025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тыс. человек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население на 01.01.2024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1600200"/>
            <a:ext cx="2622042" cy="123444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4788" y="1746504"/>
            <a:ext cx="24025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F3564"/>
                </a:solidFill>
                <a:latin typeface="Arial"/>
              </a:rPr>
              <a:t>1 147,9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4788" y="2313432"/>
            <a:ext cx="24025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тыс. человек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среднегодовая численность занятых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8270" y="1600200"/>
            <a:ext cx="2622042" cy="123444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7998" y="1746504"/>
            <a:ext cx="24025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F3564"/>
                </a:solidFill>
                <a:latin typeface="Arial"/>
              </a:rPr>
              <a:t>1 345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7998" y="2313432"/>
            <a:ext cx="24025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млрд ₽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ВРП в 2023 г.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2622042" cy="123444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55264"/>
            <a:ext cx="24025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F3564"/>
                </a:solidFill>
                <a:latin typeface="Arial"/>
              </a:rPr>
              <a:t>561 623,7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822191"/>
            <a:ext cx="24025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₽ ВРП на душу населения (2023)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71850" y="3108960"/>
            <a:ext cx="2622042" cy="123444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81578" y="3255264"/>
            <a:ext cx="24025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F3564"/>
                </a:solidFill>
                <a:latin typeface="Arial"/>
              </a:rPr>
              <a:t>58 626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1578" y="3822191"/>
            <a:ext cx="24025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₽ среднемесячная зарплата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5060" y="3108960"/>
            <a:ext cx="2622042" cy="123444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4788" y="3255264"/>
            <a:ext cx="24025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F3564"/>
                </a:solidFill>
                <a:latin typeface="Arial"/>
              </a:rPr>
              <a:t>316,7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4788" y="3822191"/>
            <a:ext cx="24025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млрд ₽ инвестиции в основной капитал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18270" y="3108960"/>
            <a:ext cx="2622042" cy="123444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3255264"/>
            <a:ext cx="24025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F3564"/>
                </a:solidFill>
                <a:latin typeface="Arial"/>
              </a:rPr>
              <a:t>328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7998" y="3822191"/>
            <a:ext cx="24025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муниципальных образований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70916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595959"/>
                </a:solidFill>
                <a:latin typeface="Arial"/>
              </a:rPr>
              <a:t>•  Регион занимает 101,2 тыс. км², население — 2,39 млн человек, 77% живёт в городах.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595959"/>
                </a:solidFill>
                <a:latin typeface="Arial"/>
              </a:rPr>
              <a:t>•  В составе области 37 муниципальных районов, 4 городских округа, 37 городских и 250 сельских поселений.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595959"/>
                </a:solidFill>
                <a:latin typeface="Arial"/>
              </a:rPr>
              <a:t>•  Экономика опирается на обрабатывающую промышленность, сельское хозяйство и энергетику.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Arial"/>
              </a:rPr>
              <a:t>Росстат, «Регионы России — 2025», табл. 1.1, 1.7, 2.1, 2.3.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3564"/>
                </a:solidFill>
                <a:latin typeface="Arial"/>
              </a:rPr>
              <a:t>Динамика: население сокращается, ВРП растёт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Население — на 1 января, тыс. человек; ВРП — млрд рублей в текущих ценах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0020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1600200"/>
          <a:ext cx="53035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564"/>
                </a:solidFill>
                <a:latin typeface="Arial"/>
              </a:rPr>
              <a:t>За 13 лет население сократилось на 134,1 тыс. человек (–5,3%), ВРП вырос в 3,6 раза.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564"/>
                </a:solidFill>
                <a:latin typeface="Arial"/>
              </a:rPr>
              <a:t>Индекс физического объёма ВРП в 2023 г. — 104,6% к уровню 2022 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Arial"/>
              </a:rPr>
              <a:t>Росстат, «Регионы России — 2025», табл. 2.1, 9.1, 9.3.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3564"/>
                </a:solidFill>
                <a:latin typeface="Arial"/>
              </a:rPr>
              <a:t>Три блока анализа: финансы, труд, товары и услуги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Как распределены ресурсы региональной экономики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66160" cy="3200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3566160" cy="5029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0078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ФИНАНСОВЫЙ СЕКТОР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86000"/>
            <a:ext cx="3246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595959"/>
                </a:solidFill>
                <a:latin typeface="Arial"/>
              </a:rPr>
              <a:t>•  Инвестиции в основной капитал — 316,7 млрд ₽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595959"/>
                </a:solidFill>
                <a:latin typeface="Arial"/>
              </a:rPr>
              <a:t>•  Основные фонды — 4 161 млрд ₽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595959"/>
                </a:solidFill>
                <a:latin typeface="Arial"/>
              </a:rPr>
              <a:t>•  Сальдированный финансовый результат — 155,5 млрд ₽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595959"/>
                </a:solidFill>
                <a:latin typeface="Arial"/>
              </a:rPr>
              <a:t>•  Инвестиции = 23,5% ВРП региона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00200"/>
            <a:ext cx="3566160" cy="3200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1600200"/>
            <a:ext cx="3566160" cy="50292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3" y="170078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РЫНОК ТРУДА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3" y="2286000"/>
            <a:ext cx="3246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595959"/>
                </a:solidFill>
                <a:latin typeface="Arial"/>
              </a:rPr>
              <a:t>•  Занято 1 147,9 тыс. человек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595959"/>
                </a:solidFill>
                <a:latin typeface="Arial"/>
              </a:rPr>
              <a:t>•  Средняя зарплата — 58 626 ₽ в месяц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595959"/>
                </a:solidFill>
                <a:latin typeface="Arial"/>
              </a:rPr>
              <a:t>•  7 939 активных вакансий на портале «Работа в России»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595959"/>
                </a:solidFill>
                <a:latin typeface="Arial"/>
              </a:rPr>
              <a:t>•  Каждый пятый занятый работает в торговле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600200"/>
            <a:ext cx="3566160" cy="3200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600200"/>
            <a:ext cx="3566160" cy="5029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70078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РЫНОК ТОВАРОВ И УСЛУГ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286000"/>
            <a:ext cx="3246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595959"/>
                </a:solidFill>
                <a:latin typeface="Arial"/>
              </a:rPr>
              <a:t>•  Промышленность — 1 039,3 млрд ₽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595959"/>
                </a:solidFill>
                <a:latin typeface="Arial"/>
              </a:rPr>
              <a:t>•  Сельское хозяйство — 282,1 млрд ₽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595959"/>
                </a:solidFill>
                <a:latin typeface="Arial"/>
              </a:rPr>
              <a:t>•  Розничная торговля — 648,5 млрд ₽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595959"/>
                </a:solidFill>
                <a:latin typeface="Arial"/>
              </a:rPr>
              <a:t>•  77% отгрузки — обрабатывающие производства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Arial"/>
              </a:rPr>
              <a:t>Росстат, «Регионы России — 2025», табл. 1.1, 3.3, 4.6, 12.1; портал «Работа в России», выгрузка 06.10.2026.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3564"/>
                </a:solidFill>
                <a:latin typeface="Arial"/>
              </a:rPr>
              <a:t>Рынок товаров и услуг: что производит регион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Отгружено товаров и услуг, 2024 г., млрд рублей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6675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52360" y="169164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3564"/>
                </a:solidFill>
                <a:latin typeface="Arial"/>
              </a:rPr>
              <a:t>1 039,3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214884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Arial"/>
              </a:rPr>
              <a:t>млрд ₽ — промышленность всего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60604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3564"/>
                </a:solidFill>
                <a:latin typeface="Arial"/>
              </a:rPr>
              <a:t>282,1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306324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Arial"/>
              </a:rPr>
              <a:t>млрд ₽ — сельское хозяйство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52044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3564"/>
                </a:solidFill>
                <a:latin typeface="Arial"/>
              </a:rPr>
              <a:t>648,5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977639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Arial"/>
              </a:rPr>
              <a:t>млрд ₽ — розничная торговля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4526280"/>
            <a:ext cx="4206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Структура АПК: растениеводство — 199,2 млрд ₽, животноводство — 82,9 млрд ₽.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Обрабатывающая промышленность даёт 77% всей отгрузки промышленности региона.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57150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3564"/>
                </a:solidFill>
                <a:latin typeface="Arial"/>
              </a:rPr>
              <a:t>Ввод жилья — 1 056,4 тыс. м²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Arial"/>
              </a:rPr>
              <a:t>Росстат, «Регионы России — 2025», табл. 1.1 (продолжение).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3564"/>
                </a:solidFill>
                <a:latin typeface="Arial"/>
              </a:rPr>
              <a:t>Рынок труда: где заняты люди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Среднегодовая численность занятых по видам деятельности, 2024 г., тыс. человек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67665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691640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3564"/>
                </a:solidFill>
                <a:latin typeface="Arial"/>
              </a:rPr>
              <a:t>1 147,9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48840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Arial"/>
              </a:rPr>
              <a:t>тыс. человек занято в экономике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606040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3564"/>
                </a:solidFill>
                <a:latin typeface="Arial"/>
              </a:rPr>
              <a:t>58 626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063240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Arial"/>
              </a:rPr>
              <a:t>₽ среднемесячная зарплата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520440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3564"/>
                </a:solidFill>
                <a:latin typeface="Arial"/>
              </a:rPr>
              <a:t>7 939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977639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Arial"/>
              </a:rPr>
              <a:t>активных вакансий на портале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Arial"/>
              </a:rPr>
              <a:t>«Работа в России»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4937760"/>
            <a:ext cx="4069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Крупнейший работодатель по числу рабочих мест — торговля: каждый пятый занятый (20,4%).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Arial"/>
              </a:rPr>
              <a:t>Росстат, «Регионы России — 2025», табл. 3.3, 3.5, 4.6; портал «Работа в России», выгрузка 06.10.2026.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3564"/>
                </a:solidFill>
                <a:latin typeface="Arial"/>
              </a:rPr>
              <a:t>Финансовый сектор: банки, вклады, инвестиции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Данные Банка России (на начало года) и Росстата, 2024–2025 гг.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72768"/>
            <a:ext cx="2622042" cy="13716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24025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F3564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86000"/>
            <a:ext cx="24025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кредитные организации,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зарегистрированные в области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1850" y="1572768"/>
            <a:ext cx="2622042" cy="13716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81578" y="1719072"/>
            <a:ext cx="24025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F3564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1578" y="2286000"/>
            <a:ext cx="24025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филиала в регионе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(в 2011 г. было 66)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1572768"/>
            <a:ext cx="2622042" cy="13716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4788" y="1719072"/>
            <a:ext cx="24025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F3564"/>
                </a:solidFill>
                <a:latin typeface="Arial"/>
              </a:rPr>
              <a:t>316,7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4788" y="2286000"/>
            <a:ext cx="24025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млрд ₽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инвестиции в основной капитал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8270" y="1572768"/>
            <a:ext cx="2622042" cy="13716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7998" y="1719072"/>
            <a:ext cx="24025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F3564"/>
                </a:solidFill>
                <a:latin typeface="Arial"/>
              </a:rPr>
              <a:t>155,5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7998" y="2286000"/>
            <a:ext cx="24025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млрд ₽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финансовый результат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48640" y="3154680"/>
          <a:ext cx="667512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452360" y="3200400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3564"/>
                </a:solidFill>
                <a:latin typeface="Arial"/>
              </a:rPr>
              <a:t>Вклады населения — 514,7 млрд ₽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3564"/>
                </a:solidFill>
                <a:latin typeface="Arial"/>
              </a:rPr>
              <a:t>из 585,1 млрд ₽ всех вкладов (2025)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206240"/>
            <a:ext cx="4206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Кредиты юридическим лицам — 219,1 млрд ₽, жилищные кредиты — 84,7 млрд ₽ (2024).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Сеть сократилась в 20 раз, но объём привлечённых средств вырос в 6 раз.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Arial"/>
              </a:rPr>
              <a:t>Росстат, «Регионы России — 2025», табл. 1.1, 20.9–20.17 (по данным Банка России).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3564"/>
                </a:solidFill>
                <a:latin typeface="Arial"/>
              </a:rPr>
              <a:t>Дополнительный разрез: первичный — вторичный — третичный сектор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Сравнение структуры ВРП (2023) и структуры занятости (2024), %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00200"/>
          <a:ext cx="3749039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206240" y="1600200"/>
          <a:ext cx="3749039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406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3564"/>
                </a:solidFill>
                <a:latin typeface="Arial"/>
              </a:rPr>
              <a:t>Структура ВРП, 2023 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54406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3564"/>
                </a:solidFill>
                <a:latin typeface="Arial"/>
              </a:rPr>
              <a:t>Структура занятости, 2024 г.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828800"/>
            <a:ext cx="3520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95959"/>
                </a:solidFill>
                <a:latin typeface="Arial"/>
              </a:rPr>
              <a:t>Вывод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595959"/>
                </a:solidFill>
                <a:latin typeface="Arial"/>
              </a:rPr>
              <a:t>Доля вторичного сектора в ВРП выше, чем в занятости, а сельское хозяйство даёт 13,8% ВРП при 7,9% занятых: производительность в первичном секторе выше средней по региону.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Arial"/>
              </a:rPr>
              <a:t>Росстат, «Регионы России — 2025», табл. 9.4 (структура ВРП), 3.5 и 3.6 (занятость).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3564"/>
                </a:solidFill>
                <a:latin typeface="Arial"/>
              </a:rPr>
              <a:t>Отраслевая структура ВРП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2023 г., % к итогу; основные отрасли и прочие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73152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38160" y="1737360"/>
            <a:ext cx="3566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95959"/>
                </a:solidFill>
                <a:latin typeface="Arial"/>
              </a:rPr>
              <a:t>Что важно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595959"/>
                </a:solidFill>
                <a:latin typeface="Arial"/>
              </a:rPr>
              <a:t>Обрабатывающая промышленность и сельское хозяйство вместе дают 31,4% ВРП — почти треть экономики региона создаётся в реальном секторе.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595959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595959"/>
                </a:solidFill>
                <a:latin typeface="Arial"/>
              </a:rPr>
              <a:t>Финансовый сектор занимает лишь 0,3% — регион не является финансовым центром.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Arial"/>
              </a:rPr>
              <a:t>Росстат, «Регионы России — 2025», табл. 9.4. Прочие отрасли — сумма отраслей с долей менее 6%.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3564"/>
                </a:solidFill>
                <a:latin typeface="Arial"/>
              </a:rPr>
              <a:t>Территориальная структура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Муниципальное устройство области на 1 января 2025 г.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622042" cy="15544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92224"/>
            <a:ext cx="24025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1F3564"/>
                </a:solidFill>
                <a:latin typeface="Arial"/>
              </a:rPr>
              <a:t>328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59152"/>
            <a:ext cx="24025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муниципальных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образований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1850" y="1645920"/>
            <a:ext cx="2622042" cy="15544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81578" y="1792224"/>
            <a:ext cx="24025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1F3564"/>
                </a:solidFill>
                <a:latin typeface="Arial"/>
              </a:rP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1578" y="2359152"/>
            <a:ext cx="24025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муниципальных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районов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1645920"/>
            <a:ext cx="2622042" cy="15544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4788" y="1792224"/>
            <a:ext cx="24025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1F3564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4788" y="2359152"/>
            <a:ext cx="24025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городских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округа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8270" y="1645920"/>
            <a:ext cx="2622042" cy="15544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7998" y="1792224"/>
            <a:ext cx="24025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1F3564"/>
                </a:solidFill>
                <a:latin typeface="Arial"/>
              </a:rPr>
              <a:t>250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7998" y="2359152"/>
            <a:ext cx="24025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сельских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Arial"/>
              </a:rPr>
              <a:t>поселений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595959"/>
                </a:solidFill>
                <a:latin typeface="Arial"/>
              </a:rPr>
              <a:t>•  Городское население — 77,0%, сельское — 23,0%: область высокоурбанизирована.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595959"/>
                </a:solidFill>
                <a:latin typeface="Arial"/>
              </a:rPr>
              <a:t>•  Экономический каркас формируют областной центр Саратов, Энгельс, Балаково и Вольск.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595959"/>
                </a:solidFill>
                <a:latin typeface="Arial"/>
              </a:rPr>
              <a:t>•  4 городских округа концентрируют промышленность, энергетику и транспортные узлы.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595959"/>
                </a:solidFill>
                <a:latin typeface="Arial"/>
              </a:rPr>
              <a:t>•  Сельские поселения (250) — основа агропромышленного комплекса: 282,1 млрд ₽ продукции сельского хозяйства.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Arial"/>
              </a:rPr>
              <a:t>Росстат, «Регионы России — 2025», табл. 1.6, 1.7, 2.3.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3564"/>
                </a:solidFill>
                <a:latin typeface="Arial"/>
              </a:rPr>
              <a:t>Дополнительный разрез: государственный — частный — смешанный сектор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2024 г.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00200"/>
          <a:ext cx="384048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480560" y="1600200"/>
          <a:ext cx="384048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406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3564"/>
                </a:solidFill>
                <a:latin typeface="Arial"/>
              </a:rPr>
              <a:t>Число организаций: всего 38 314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54406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3564"/>
                </a:solidFill>
                <a:latin typeface="Arial"/>
              </a:rPr>
              <a:t>Оборот: всего 1 425,9 млрд 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828800"/>
            <a:ext cx="31546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95959"/>
                </a:solidFill>
                <a:latin typeface="Arial"/>
              </a:rPr>
              <a:t>Вывод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595959"/>
                </a:solidFill>
                <a:latin typeface="Arial"/>
              </a:rPr>
              <a:t>Частный сектор — основа экономики: 81,6% организаций и 79,9% оборота.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595959"/>
                </a:solidFill>
                <a:latin typeface="Arial"/>
              </a:rPr>
              <a:t>Государство и муниципалитеты дают лишь 12,9% организаций и 3,6% оборота.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595959"/>
                </a:solidFill>
                <a:latin typeface="Arial"/>
              </a:rPr>
              <a:t>Иностранный и совместный бизнес — 12% оборота при 0,7% организаций.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Arial"/>
              </a:rPr>
              <a:t>Росстат, «Регионы России — 2025», табл. 12.4 (организации), 12.7 (оборот).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3564"/>
                </a:solidFill>
                <a:latin typeface="Arial"/>
              </a:rPr>
              <a:t>Формы собственности в динамике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Работники организаций по формам собственности, % от общей численности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00200"/>
          <a:ext cx="72237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01000" y="1783080"/>
            <a:ext cx="37033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95959"/>
                </a:solidFill>
                <a:latin typeface="Arial"/>
              </a:rPr>
              <a:t>Тренд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595959"/>
                </a:solidFill>
                <a:latin typeface="Arial"/>
              </a:rPr>
              <a:t>Муниципальный сектор сократился с 21,3% до 14,9% работников — функции переданы в частный сектор и на уровень области.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595959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595959"/>
                </a:solidFill>
                <a:latin typeface="Arial"/>
              </a:rPr>
              <a:t>Частный сектор вырос с 40,9% до 46,0%.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595959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595959"/>
                </a:solidFill>
                <a:latin typeface="Arial"/>
              </a:rPr>
              <a:t>Государственный сектор стабилен — 29,6%.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Arial"/>
              </a:rPr>
              <a:t>Росстат, «Регионы России — 2025», табл. 3.7 (данные за 2010 и 2020 гг.).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3564"/>
                </a:solidFill>
                <a:latin typeface="Arial"/>
              </a:rP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Что показывает экономическое описание Саратовской области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>
                <a:solidFill>
                  <a:srgbClr val="595959"/>
                </a:solidFill>
                <a:latin typeface="Arial"/>
              </a:rPr>
              <a:t>•  Экономика региона — индустриально-аграрная с доминирующим третичным сектором (54,1% ВРП, 66,6% занятости).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595959"/>
                </a:solidFill>
                <a:latin typeface="Arial"/>
              </a:rPr>
              <a:t>•  Реальный сектор даёт 31,4% ВРП: обрабатывающие производства (17,6%) и сельское хозяйство (13,8%).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595959"/>
                </a:solidFill>
                <a:latin typeface="Arial"/>
              </a:rPr>
              <a:t>•  Промышленность не сырьевая: 77% отгрузки — обрабатывающие производства, добыча — лишь 6,8%.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595959"/>
                </a:solidFill>
                <a:latin typeface="Arial"/>
              </a:rPr>
              <a:t>•  Население сокращается (–5,3% с 2010 г.) при росте ВРП; экономика растёт за счёт производительности, а не людей.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595959"/>
                </a:solidFill>
                <a:latin typeface="Arial"/>
              </a:rPr>
              <a:t>•  Производительность в сельском хозяйстве выше средней по региону: 13,8% ВРП при 7,9% занятых.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595959"/>
                </a:solidFill>
                <a:latin typeface="Arial"/>
              </a:rPr>
              <a:t>•  Основа экономики — частный сектор: 81,6% организаций и 79,9% оборота; доля государства и муниципалитетов в обороте — 3,6%.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595959"/>
                </a:solidFill>
                <a:latin typeface="Arial"/>
              </a:rPr>
              <a:t>•  Банковская сеть сжалась с 66 филиалов (2011) до 3 (2025), но вклады выросли с 97 до 585 млрд ₽.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595959"/>
                </a:solidFill>
                <a:latin typeface="Arial"/>
              </a:rPr>
              <a:t>•  Инвестиции составляют 23,5% ВРП, совокупный финансовый результат положителен — 155,5 млрд ₽.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3564"/>
                </a:solidFill>
                <a:latin typeface="Arial"/>
              </a:rPr>
              <a:t>Источники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Все данные — официальная статистика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>
                <a:solidFill>
                  <a:srgbClr val="595959"/>
                </a:solidFill>
                <a:latin typeface="Arial"/>
              </a:rPr>
              <a:t>•  Росстат. Регионы России. Социально-экономические показатели — 2025: статистический сборник. — М., 2025. URL: rosstat.gov.ru/folder/210/document/13204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595959"/>
                </a:solidFill>
                <a:latin typeface="Arial"/>
              </a:rPr>
              <a:t>•  Таблицы, использованные в работе: 1.1, 1.6, 1.7, 2.1, 2.3, 3.3, 3.5, 3.6, 3.7, 4.6, 9.1, 9.3, 9.4, 10.1, 12.4, 12.7, 20.9–20.17.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595959"/>
                </a:solidFill>
                <a:latin typeface="Arial"/>
              </a:rPr>
              <a:t>•  Портал «Работа в России» (Роструд): открытые данные о вакансиях, выгрузка 06.10.2026 — opendata.trudvsem.ru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595959"/>
                </a:solidFill>
                <a:latin typeface="Arial"/>
              </a:rPr>
              <a:t>•  Дата отсечения данных — 6 октября 2026 г. Все показатели приведены в ценах соответствующих лет.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595959"/>
                </a:solidFill>
                <a:latin typeface="Arial"/>
              </a:rPr>
              <a:t>•  Данные за 2023–2024 гг. — последние опубликованные на дату выгрузки; ВРП публикуется с лагом в один год.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