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11"/>
    <p:sldId id="257" r:id="rId12"/>
    <p:sldId id="258" r:id="rId10"/>
    <p:sldId id="259" r:id="rId9"/>
    <p:sldId id="260" r:id="rId8"/>
    <p:sldId id="261" r:id="rId7"/>
    <p:sldId id="262" r:id="rId6"/>
    <p:sldId id="263" r:id="rId5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9" userDrawn="1">
          <p15:clr>
            <a:srgbClr val="A4A3A4"/>
          </p15:clr>
        </p15:guide>
        <p15:guide id="2" pos="41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3826"/>
    <a:srgbClr val="8FAADC"/>
    <a:srgbClr val="66A0D0"/>
    <a:srgbClr val="8C6E8E"/>
    <a:srgbClr val="AE6464"/>
    <a:srgbClr val="F8F1F1"/>
    <a:srgbClr val="D3B25F"/>
    <a:srgbClr val="C2AA46"/>
    <a:srgbClr val="990000"/>
    <a:srgbClr val="C2A1C3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43" autoAdjust="0"/>
    <p:restoredTop sz="94652" autoAdjust="0"/>
  </p:normalViewPr>
  <p:slideViewPr>
    <p:cSldViewPr snapToGrid="0">
      <p:cViewPr varScale="1">
        <p:scale>
          <a:sx n="79" d="100"/>
          <a:sy n="79" d="100"/>
        </p:scale>
        <p:origin x="312" y="120"/>
      </p:cViewPr>
      <p:guideLst>
        <p:guide orient="horz" pos="2409"/>
        <p:guide pos="41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6" d="100"/>
          <a:sy n="126" d="100"/>
        </p:scale>
        <p:origin x="-4908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ВРП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17.6</c:v>
                </c:pt>
                <c:pt idx="1">
                  <c:v>28.3</c:v>
                </c:pt>
                <c:pt idx="2">
                  <c:v>54.1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Занятость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8.6</c:v>
                </c:pt>
                <c:pt idx="1">
                  <c:v>24.8</c:v>
                </c:pt>
                <c:pt idx="2">
                  <c:v>66.6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D93DD-A479-4F6C-AF5E-6152D069177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527F79-BC16-4DE0-8BA2-D3AF1D768C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94715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CDAC6F-BB1F-4063-BD4A-C26C60CE3A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060B39-B557-40BF-9ECA-089F8F8977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745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Работа построена как пайплайн: сначала сбор данных, потом анализ по сферам. В докладе сначала покажу, откуда и как берутся данные, затем результаты.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данных: четыре источника, каждому соответствует свой файл в data/. Дальше разберу каждый источник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источник — сборник Росстата. Три шага: скачать, прочитать, отобрать. Ключевое: сохраняем не только значения, но и структуру таблиц — это нужно для автоматического чтения чисел на этапе анализа.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источник — вакансии. Главная техническая проблема: лимит в 200 записей на запрос. Обошли разбиением по ключевым словам, дубликаты убираются словарём по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источник — OpenStreetMap. Разбираем выгрузку локально: 112 миллионов узлов, из них по тегам отбирается 47 тысяч кандидатов, после фильтра по границе остаётся 2 432 объекта.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техническое решение: фильтрация по настоящей границе, а не по прямоугольнику. Проверка «точка внутри полигона» векторизована и разбита на порции, чтобы не съесть память.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сбора: четыре таблицы и геометрия. Дальше начинается анализ — про него следующие слайды.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скрипт анализа — общая сводка. Показываю, как он читает числа: по номеру таблицы, году и подписи столбца. Никаких переписанных вручную цифр.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Секторы — не готовый показатель сборника, а наша агрегация видов деятельности. Поэтому показываю формулу: что именно складывается в каждый сектор.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Финансовый блок: показываю таблицу соответствия — что считаем, из какой таблицы берём и каким образом. Доля Сбербанка — отношение двух разных таблиц, это указано 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Результаты финансового блока. Главное: сеть сжалась, деньги выросли; и обязательно называю ограничение по филиалам.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Трудовой блок. Берём нижнюю границу вилки «от», потому что это консервативная оценка; нули в поле зарплаты означают отсутствие данных и отбрасываются.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наблюдение блока: самые востребованные сферы — образование и здравоохранение — оплачиваются хуже всех. Спрос в бюджетном секторе не подкреплён оплатой.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Товарный блок: размещение берём из OSM, деньги — из статистики. Промышленность всего в сборнике не публикуется одной цифрой — это сумма четырёх видов деятельности.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Ключевой вывод блока: пространственные и стоимостные данные нельзя смешивать. Розничные точки в OSM размечены хорошо, промышленные площадки — плохо.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выводов: про данные, про общую картину и по одному на каждую сферу.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80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396784"/>
            <a:ext cx="3987797" cy="114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267304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04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7999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64686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782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928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444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32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2000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619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3" name="Группа 52"/>
          <p:cNvGrpSpPr/>
          <p:nvPr userDrawn="1"/>
        </p:nvGrpSpPr>
        <p:grpSpPr>
          <a:xfrm>
            <a:off x="9143115" y="0"/>
            <a:ext cx="2527884" cy="1474000"/>
            <a:chOff x="9225933" y="44624"/>
            <a:chExt cx="2527884" cy="1474000"/>
          </a:xfrm>
        </p:grpSpPr>
        <p:cxnSp>
          <p:nvCxnSpPr>
            <p:cNvPr id="55" name="Прямая соединительная линия 54"/>
            <p:cNvCxnSpPr/>
            <p:nvPr userDrawn="1"/>
          </p:nvCxnSpPr>
          <p:spPr>
            <a:xfrm flipV="1">
              <a:off x="922593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Прямая соединительная линия 56"/>
            <p:cNvCxnSpPr/>
            <p:nvPr userDrawn="1"/>
          </p:nvCxnSpPr>
          <p:spPr>
            <a:xfrm flipV="1">
              <a:off x="934050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Прямая соединительная линия 57"/>
            <p:cNvCxnSpPr/>
            <p:nvPr userDrawn="1"/>
          </p:nvCxnSpPr>
          <p:spPr>
            <a:xfrm flipV="1">
              <a:off x="944770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Прямая соединительная линия 58"/>
            <p:cNvCxnSpPr/>
            <p:nvPr userDrawn="1"/>
          </p:nvCxnSpPr>
          <p:spPr>
            <a:xfrm flipV="1">
              <a:off x="956227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Прямая соединительная линия 59"/>
            <p:cNvCxnSpPr/>
            <p:nvPr userDrawn="1"/>
          </p:nvCxnSpPr>
          <p:spPr>
            <a:xfrm flipV="1">
              <a:off x="967753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Прямая соединительная линия 60"/>
            <p:cNvCxnSpPr/>
            <p:nvPr userDrawn="1"/>
          </p:nvCxnSpPr>
          <p:spPr>
            <a:xfrm flipV="1">
              <a:off x="9792105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Прямая соединительная линия 61"/>
            <p:cNvCxnSpPr/>
            <p:nvPr userDrawn="1"/>
          </p:nvCxnSpPr>
          <p:spPr>
            <a:xfrm flipV="1">
              <a:off x="989931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Прямая соединительная линия 62"/>
            <p:cNvCxnSpPr/>
            <p:nvPr userDrawn="1"/>
          </p:nvCxnSpPr>
          <p:spPr>
            <a:xfrm flipV="1">
              <a:off x="10013880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Прямая соединительная линия 63"/>
            <p:cNvCxnSpPr/>
            <p:nvPr userDrawn="1"/>
          </p:nvCxnSpPr>
          <p:spPr>
            <a:xfrm flipV="1">
              <a:off x="10132589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Прямая соединительная линия 64"/>
            <p:cNvCxnSpPr/>
            <p:nvPr userDrawn="1"/>
          </p:nvCxnSpPr>
          <p:spPr>
            <a:xfrm flipV="1">
              <a:off x="1024715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Прямая соединительная линия 65"/>
            <p:cNvCxnSpPr/>
            <p:nvPr userDrawn="1"/>
          </p:nvCxnSpPr>
          <p:spPr>
            <a:xfrm flipV="1">
              <a:off x="10354364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Прямая соединительная линия 66"/>
            <p:cNvCxnSpPr/>
            <p:nvPr userDrawn="1"/>
          </p:nvCxnSpPr>
          <p:spPr>
            <a:xfrm flipV="1">
              <a:off x="1046893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Прямая соединительная линия 67"/>
            <p:cNvCxnSpPr/>
            <p:nvPr userDrawn="1"/>
          </p:nvCxnSpPr>
          <p:spPr>
            <a:xfrm flipV="1">
              <a:off x="1058419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Прямая соединительная линия 68"/>
            <p:cNvCxnSpPr/>
            <p:nvPr userDrawn="1"/>
          </p:nvCxnSpPr>
          <p:spPr>
            <a:xfrm flipV="1">
              <a:off x="1069876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Прямая соединительная линия 69"/>
            <p:cNvCxnSpPr/>
            <p:nvPr userDrawn="1"/>
          </p:nvCxnSpPr>
          <p:spPr>
            <a:xfrm flipV="1">
              <a:off x="1080596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Прямая соединительная линия 70"/>
            <p:cNvCxnSpPr/>
            <p:nvPr userDrawn="1"/>
          </p:nvCxnSpPr>
          <p:spPr>
            <a:xfrm flipV="1">
              <a:off x="1092053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662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1450" y="1165860"/>
            <a:ext cx="11852910" cy="55149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lnSpc>
                <a:spcPct val="100000"/>
              </a:lnSpc>
              <a:spcBef>
                <a:spcPts val="600"/>
              </a:spcBef>
              <a:buNone/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2992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+ ненумер.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88720"/>
            <a:ext cx="6086475" cy="548639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426329" y="1183006"/>
            <a:ext cx="5580886" cy="549211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32289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нумерованный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48715"/>
            <a:ext cx="11835765" cy="548640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Font typeface="+mj-lt"/>
              <a:buAutoNum type="arabicPeriod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800100" indent="-342900">
              <a:lnSpc>
                <a:spcPct val="100000"/>
              </a:lnSpc>
              <a:buFont typeface="+mj-lt"/>
              <a:buAutoNum type="arabicPeriod"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257300" indent="-342900">
              <a:lnSpc>
                <a:spcPct val="100000"/>
              </a:lnSpc>
              <a:buFont typeface="+mj-lt"/>
              <a:buAutoNum type="arabicPeriod"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7145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1717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78974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сто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77290"/>
            <a:ext cx="11812905" cy="54864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928204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+ текст + рисун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0"/>
            <a:ext cx="7008813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38687"/>
            <a:ext cx="4831871" cy="551357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4840605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869188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исунок +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1"/>
            <a:ext cx="12192000" cy="57035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8279" y="5852160"/>
            <a:ext cx="11886086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8429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лев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6072" y="1786243"/>
            <a:ext cx="5242849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831" y="554439"/>
            <a:ext cx="526434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079768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1532" y="1786243"/>
            <a:ext cx="5681932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531" y="554439"/>
            <a:ext cx="499832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71101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213339"/>
            <a:ext cx="1220346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2560320"/>
            <a:ext cx="3933287" cy="4000499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2830182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967895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1213339"/>
            <a:ext cx="762254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1213338"/>
            <a:ext cx="3933287" cy="5331235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1483200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4995471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иаграмма + текст справ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8922" y="1223010"/>
            <a:ext cx="5575433" cy="53721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Диаграмма 7"/>
          <p:cNvSpPr>
            <a:spLocks noGrp="1"/>
          </p:cNvSpPr>
          <p:nvPr>
            <p:ph type="chart" sz="quarter" idx="11"/>
          </p:nvPr>
        </p:nvSpPr>
        <p:spPr>
          <a:xfrm>
            <a:off x="171451" y="1229042"/>
            <a:ext cx="6052184" cy="53546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961370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395446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quot;Дорожная карта&quo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Соединительная линия уступом 5"/>
          <p:cNvCxnSpPr/>
          <p:nvPr userDrawn="1"/>
        </p:nvCxnSpPr>
        <p:spPr>
          <a:xfrm>
            <a:off x="165735" y="1417320"/>
            <a:ext cx="11755755" cy="1194435"/>
          </a:xfrm>
          <a:prstGeom prst="bentConnector3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8579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2711624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6308600" y="1277607"/>
            <a:ext cx="5612889" cy="56262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5879975" y="2780929"/>
            <a:ext cx="3418329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9479220" y="2780929"/>
            <a:ext cx="2442270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1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348577" y="4821687"/>
            <a:ext cx="11612917" cy="149391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314609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439165" y="2249512"/>
            <a:ext cx="5108575" cy="4905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Прямоугольник 3"/>
          <p:cNvSpPr/>
          <p:nvPr userDrawn="1"/>
        </p:nvSpPr>
        <p:spPr>
          <a:xfrm>
            <a:off x="439165" y="1354812"/>
            <a:ext cx="211307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Контакты</a:t>
            </a: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7126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Relationship Id="rId2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D3705242-639C-4816-B6E8-01005FE983B9}"/>
              </a:ext>
            </a:extLst>
          </p:cNvPr>
          <p:cNvCxnSpPr>
            <a:cxnSpLocks/>
          </p:cNvCxnSpPr>
          <p:nvPr userDrawn="1"/>
        </p:nvCxnSpPr>
        <p:spPr>
          <a:xfrm>
            <a:off x="0" y="163887"/>
            <a:ext cx="10548046" cy="0"/>
          </a:xfrm>
          <a:prstGeom prst="line">
            <a:avLst/>
          </a:prstGeom>
          <a:ln w="9525">
            <a:solidFill>
              <a:srgbClr val="9238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813" y="-309257"/>
            <a:ext cx="2044945" cy="1104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490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2" r:id="rId2"/>
    <p:sldLayoutId id="2147483651" r:id="rId3"/>
    <p:sldLayoutId id="2147483673" r:id="rId4"/>
    <p:sldLayoutId id="2147483661" r:id="rId5"/>
    <p:sldLayoutId id="2147483674" r:id="rId6"/>
    <p:sldLayoutId id="2147483660" r:id="rId7"/>
    <p:sldLayoutId id="2147483675" r:id="rId8"/>
    <p:sldLayoutId id="2147483654" r:id="rId9"/>
    <p:sldLayoutId id="2147483664" r:id="rId10"/>
    <p:sldLayoutId id="2147483658" r:id="rId11"/>
    <p:sldLayoutId id="2147483655" r:id="rId12"/>
    <p:sldLayoutId id="2147483657" r:id="rId13"/>
    <p:sldLayoutId id="2147483663" r:id="rId14"/>
    <p:sldLayoutId id="2147483665" r:id="rId15"/>
    <p:sldLayoutId id="2147483670" r:id="rId16"/>
    <p:sldLayoutId id="2147483667" r:id="rId17"/>
    <p:sldLayoutId id="2147483677" r:id="rId18"/>
    <p:sldLayoutId id="2147483668" r:id="rId19"/>
    <p:sldLayoutId id="2147483669" r:id="rId20"/>
    <p:sldLayoutId id="2147483671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0" y="1783080"/>
            <a:ext cx="3611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Факультет прикладной математики — процессов управления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81328" y="3977639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Саратовская область:</a:t>
            </a:r>
          </a:p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сбор данных, парсинг,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502920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Open Sans"/>
              </a:rPr>
              <a:t>Росстат  ·  «Работа в России»  ·  OpenStreetMap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3093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Санкт-Петербург,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Сбор данных: источники и файлы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Четыре источника, девять скриптов, один слой steps/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4444"/>
                <a:gridCol w="2424074"/>
                <a:gridCol w="3525926"/>
                <a:gridCol w="2424074"/>
              </a:tblGrid>
              <a:tr h="71323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Open Sans"/>
                        </a:rPr>
                        <a:t>Источник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Open Sans"/>
                        </a:rPr>
                        <a:t>Скрипты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Open Sans"/>
                        </a:rPr>
                        <a:t>Что получаем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Open Sans"/>
                        </a:rPr>
                        <a:t>Файл в проекте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Росстат, сборник «Регионы России — 2025»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</a:t>
                      </a:r>
                    </a:p>
                    <a:p>
                      <a:r>
                        <a:t>rosstat_docx_to_text</a:t>
                      </a:r>
                    </a:p>
                    <a:p>
                      <a: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476 таблиц со строкой «Саратовская область»: номер таблицы, шапка, значения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data/rosstat/saratov_tables.json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Портал «Работа в России» (API)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parse_vacancies_trudvsem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4 183 вакансии × 15 полей: профессия, зарплата, работодатель, координаты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data/labor/vacancies.csv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OpenStreetMap (выгрузка Geofabrik)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</a:t>
                      </a:r>
                    </a:p>
                    <a:p>
                      <a:r>
                        <a:t>parse_osm_objects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2 432 объекта: банки и банкоматы, магазины, услуги, производства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Nominatim (справочная геометрия)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get_region_boundary</a:t>
                      </a:r>
                    </a:p>
                    <a:p>
                      <a:r>
                        <a:t>assign_cities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контур области из 8 307 точек и привязка объектов к 27 городам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data/osm/region_boundary.geojson,</a:t>
                      </a:r>
                    </a:p>
                    <a:p>
                      <a:r>
                        <a:t>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120640"/>
            <a:ext cx="11018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Скачивание и разбор вынесены в общий слой scripts/steps/ — эти данные нужны всем сферам: банки и магазины лежат в одном файле OSM, разделы статистики — в одном архиве.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Скрипты сбора: scripts/steps/. Запускаются один раз, результаты кэшируются.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1. Росстат: от архива до таблиц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Как 823 таблицы сборника превращаются в выборку по региону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407"/>
                <a:gridCol w="2313889"/>
                <a:gridCol w="4848148"/>
                <a:gridCol w="2424074"/>
              </a:tblGrid>
              <a:tr h="65836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Шаг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Скрипт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Что делает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Результат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1. Скачать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Забирает .rar (11 МБ) и .pdf сборника с сайта Росстата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22 раздела .docx после распаковки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2. Прочитать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rosstat_docx_to_text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Обходит XML-тело каждого .docx, чтобы сохранить порядок абзацев и таблиц, и пишет текст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23 дампа, 823 таблицы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3. Отобрать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Ищет «Саратовская область» в любой ячейке строки, сохраняет номер таблицы, шапку и строки региона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saratov_tables.json — 476 таблиц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49039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923826"/>
                </a:solidFill>
                <a:latin typeface="Open Sans"/>
              </a:rPr>
              <a:t>Почему сохраняется вся шапка: номер таблицы и подписи столбцов позволяют потом читать конкретное значение — «табл. 20.10, 2025 год, вклады физических лиц» — не переписывая цифры в код.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09160"/>
            <a:ext cx="11018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Особенность вёрстки: части одной таблицы идут отдельными блоками без подписи, а регион в «продолжениях» стоит в последней ячейке. Поэтому номер таблицы наследуется от подписи, а поиск идёт по любой ячейке строки — иначе терялось бы 79 таблиц из 476.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rosstat.gov.ru/folder/210/document/13204; scripts/steps/download_rosstat.py и далее.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2. Вакансии: обход лимита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«Работа в России», регион 6400000000000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23826"/>
                </a:solidFill>
                <a:latin typeface="Open Sans"/>
              </a:rPr>
              <a:t>Ограничение API:  offset + limit ≤ 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Штатная пагинация невозможна: на второй странице сервис отвечает ошибкой.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Решение — перебор не по страницам, а по 129 ключевым словам профессий.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На каждое слово до 2 страниц по 100 записей, 5 потоков параллельно.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Дедупликация — структурой данных: словарь по id вакансии, повторы исчезают сами.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Повторы запросов: 3 попытки с растущей паузой; неудача одного слова не рвёт сбор.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17320"/>
            <a:ext cx="5321808" cy="237744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5047488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def collect_kw(kw):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got = {}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for offset in (0, 100):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    d = fetch(kw, offset)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    for item in d["results"]["vacancies"]: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        got[item["vacancy"]["id"]] = item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    if len(vacs) &lt; 100: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        break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return kw, got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977639"/>
            <a:ext cx="53218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Результат:  4 183 уникальные вакансии из 7 939 активных (52,7%)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434840"/>
            <a:ext cx="532180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Файл data/labor/vacancies.csv — 4 183 строки × 15 колонок (2,2 МБ).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Рядом vacancies_raw.json — 4 183 сырых ответа API (14,7 МБ).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Ограничение: выборка смещена к профессиям из списка ключевых слов.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opendata.trudvsem.ru/api/v1/vacancies/region/6400000000000; scripts/steps/parse_vacancies_trudvsem.py.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3. OpenStreetMap: объекты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Выгрузка Geofabrik и отбор по тегам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333"/>
                <a:gridCol w="6831482"/>
                <a:gridCol w="2203704"/>
              </a:tblGrid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Шаг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Что происходит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Числа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Скачивание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download_osm_pbf: выгрузка Приволжского федерального округа с Geofabrik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739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Разбор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parse_osm_objects: osmium проходит файл потоком, объекты не держатся в памяти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112 млн узлов,</a:t>
                      </a:r>
                    </a:p>
                    <a:p>
                      <a:r>
                        <a:t>11 млн линий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Отбор по тегам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amenity=bank|atm;  industrial=*;  shop=supermarket|convenience|general;</a:t>
                      </a:r>
                    </a:p>
                    <a:p>
                      <a:r>
                        <a:t>shop=beauty|hairdresser|massage;  leisure=tanning_salon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47 658 кандидатов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Фильтр по границе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лучевой метод, точки внутри контура области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2 432 объекта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977639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Точки (node) берутся как есть, площадки (way) — по центру масс их вершин. Один объект может попасть в несколько категорий: магазин с аптекой — и торговля, и услуги.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84632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923826"/>
                </a:solidFill>
                <a:latin typeface="Open Sans"/>
              </a:rPr>
              <a:t>Почему выгрузка, а не Overpass API: сервис блокировал запросы по области. Локальный разбор не зависит от чужого API и даёт все объекты региона, а не только попавшие в ответ.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download.geofabrik.de/russia/volga-fed-district-latest.osm.pbf; scripts/steps/parse_osm_objects.py.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Геометрия: зачем нужен контур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Фильтр по границе и привязка объектов к городам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Проблема:  прямоугольник вокруг области захватывает пять соседних регионов и Казахстан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Поэтому объекты фильтруются по реальному контуру, полученному из Nominatim: 8 307 точек.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6766560" cy="237744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331720"/>
            <a:ext cx="6492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def ray_inside(poly, pts):            # точка внутри, если луч пересекает контур нечётно раз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x1, y1 = poly[None, :, 0], poly[None, :, 1]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x2 = np.roll(poly[:, 0], -1)[None, :]      # соседняя вершина ребра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cond = (y1 &gt; y) != (y2 &gt; y)                # ребро пересекает горизонталь точки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xint = (x2 - x1) * (y - y1) / (y2 - y1) + x1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return (cond &amp; (x &lt; xint)).sum(axis=1) % 2 == 1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def inside(pts, batch=800):           # батчи: 800 x 8 307 — около 53 МБ на массив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240280"/>
            <a:ext cx="399592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47 658 объектов × 8 307 вершин — цикл на Python занял бы часы.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Матрица «точка × ребро» считается в numpy сразу для всех точек.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Порция 800 точек ограничивает память: полная матрица заняла бы ~3 ГБ.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754880"/>
            <a:ext cx="11018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Привязка к городам (assign_cities)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2064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В OSM поле города заполнено редко, поэтому город определяется по ближайшему из 27 населённых пунктов.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Расстояние — равноугольная аппроксимация (111 км на градус с поправкой на косинус широты); сравниваются квадраты расстояний, корень берётся один раз.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Если ближайший город дальше 30 км, объект попадает в группу «прочие населённые пункты» — иначе он приписался бы городу в десятках километров. В пределах 30 км оказалось 96% объектов.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scripts/steps/get_region_boundary.py, parse_osm_objects.py, assign_cities.py.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Что получилось после сбора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Файлы, с которыми работают скрипты анализа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185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556"/>
                <a:gridCol w="1212037"/>
                <a:gridCol w="1542592"/>
                <a:gridCol w="4958334"/>
              </a:tblGrid>
              <a:tr h="5029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Файл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Размер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Объём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Что внутри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data/rosstat/saratov_tables.json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0,6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476 таблиц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номер таблицы, шапка (годы и подписи), строки региона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data/labor/vacancies.csv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2,2 МБ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4 183 × 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профессия, зарплата от и до, работодатель, ИНН, координаты, опыт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0,2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2 432 × 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тип, категория, название, координаты, адрес, бренд, теги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0,3 МБ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2 432 × 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то же плюс колонка settlement — привязанный город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data/osm/region_boundary.geojson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0,2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8 307 точек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контур области из Nominatim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20624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В репозиторий не входят крупные исходники (выгрузка OSM 739 МБ, архив и PDF сборника, сырые ответы API) — они восстанавливаются запуском скриптов слоя steps.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7492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923826"/>
                </a:solidFill>
                <a:latin typeface="Open Sans"/>
              </a:rPr>
              <a:t>Дальше эти файлы читают четыре скрипта анализа: overview.py, finance.py, labor.py, goods.py. Каждый печатает свой блок отчёта и пишет таблицы в analiz/.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Полный перечень — в scripts/README.md и data/README.md.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анализ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overview.py: регион в цифрах из таблиц 1.1, 1.7, 2.1, 2.3, 9.2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Как скрипт берёт числа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28800"/>
            <a:ext cx="5120640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t = rv.load(PROJECT)                      # saratov_tables.json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area = rv.require(t, "1.1", label="Площадь территории")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pop  = rv.require(t, "1.1", label="Численность населения")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grp  = rv.require(t, "1.1", label="Валовой региональный продукт")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grp_pc = rv.require(t, "9.2", year=2023)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pop_2010 = rv.require(t, "2.1", year=2010)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69080"/>
            <a:ext cx="5394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Адресация: «номер таблицы + год + подпись столбца». Если столбец не найден, скрипт падает с ошибкой — пустое значение не подставляется.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101,2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тыс. км²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площадь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9812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2964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2 385,2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2964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население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984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1 147,9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9136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занятых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92156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65308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1 345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65308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млрд ₽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ВРП, 2023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561 624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₽ ВРП на душу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9812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2964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58 626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2964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₽ зарплата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15984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6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316,7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млрд ₽ инвестиции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92156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65308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328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65308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муниципальных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образований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840480"/>
            <a:ext cx="532180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Население сократилось на 5,3% с 2010 г. (2 519,3 → 2 385,2 тыс.), а ВРП вырос в 3,6 раза.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Городское население — 77,0%; в области 37 районов и 4 городских округа.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Инвестиции составляют 23,5% ВРП.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scripts/overview.py → analiz/обзор_показатели.csv; Росстат, табл. 1.1, 1.7, 2.1, 2.3, 9.2.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анализ: структура экономики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Секторы считаются как суммы видов деятельности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371600"/>
          <a:ext cx="356616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06240" y="1371600"/>
          <a:ext cx="35661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9834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23826"/>
                </a:solidFill>
                <a:latin typeface="Open Sans"/>
              </a:rPr>
              <a:t>ВРП, 2023  ·  таблица 9.4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49834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23826"/>
                </a:solidFill>
                <a:latin typeface="Open Sans"/>
              </a:rPr>
              <a:t>Занятость, 2024  ·  таблица 3.6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37160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Как считаются секторы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7373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Первичный = сельское хозяйство + добыча.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Вторичный = обработка + энергетика + водоснабжение + строительство.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Третичный = 100% минус первые два — остальные услуги.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Те же суммы считаются в двух разрезах: по ВРП и по занятости.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Сравнение разрезов и даёт вывод: в первичном секторе доля в ВРП вдвое больше доли в занятости.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40680"/>
            <a:ext cx="720547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81818"/>
                </a:solidFill>
                <a:latin typeface="Open Sans"/>
              </a:rPr>
              <a:t>Формы собственности (табл. 12.4, 12.7):  частный сектор — 81,6% организаций и 79,9% оборота; государство и муниципалитеты — 12,9% организаций и 3,6% оборота.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scripts/overview.py → analiz/обзор_секторы.csv; Росстат, табл. 9.4, 3.6, 12.4, 12.7.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сектор: как считает finance.py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Таблицы 20.9–20.14 сборника + объекты OSM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556"/>
                <a:gridCol w="2644444"/>
                <a:gridCol w="5068519"/>
              </a:tblGrid>
              <a:tr h="56692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Институты: организации и филиалы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20.9, части 1 и 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значения на 2011 и 2025 гг. и кратность изменений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Вклады: всего, населения, юрлиц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по году и подписи столбца («физических» / «юридических»)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Кредиты юрлицам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ряд 2011 → 2025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Сбербанк и его доля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20.12, 20.13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вклады физлиц в рублях и валюте; доля = вклады Сбербанка / все вклады населения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Вклады на душу населения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20.10 + население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вклады ÷ население (ближайшие опубликованные годы)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Размещение: банки, банкоматы, бренды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группировка по категории, бренду и территории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846320"/>
            <a:ext cx="11018520" cy="68580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4937759"/>
            <a:ext cx="10744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dep_p1 = rv.require(t, "20.10", year=2025, label="физических", part=1)   # 514 711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share  = 100 * sber1 / dep_p1                                            # 51,8%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692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analiz/финансы_ряды.csv (ряды и кратность) и analiz/финансы_бренды.csv (топ банков).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scripts/finance.py; Росстат, раздел 20 (по данным Банка России); OpenStreetMap.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Что показали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36576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952"/>
                <a:gridCol w="877824"/>
                <a:gridCol w="877824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Институты (на начало года)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Кредитные организации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Филиалы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434840" y="1463040"/>
          <a:ext cx="715060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6267"/>
                <a:gridCol w="1358615"/>
                <a:gridCol w="1358615"/>
                <a:gridCol w="1287109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Деньги, млн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×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всего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97 314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585 130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6,0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— населения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90 263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514 711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5,7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— юридических 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7 051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70 419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10,0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Кредиты юрлицам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74 345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219 109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2,9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20040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Вклады на душу населения: 38 627 ₽ (2011) → 245 317 ₽ (2025).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Сбербанк: 266 542 млн ₽ на рублёвых счетах физлиц — 51,8% всех вкладов населения, 23-е место в РФ.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Размещение (OSM): 547 объектов — 237 банков и 310 банкоматов, то есть 1 : 1,3.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Топ брендов: Сбербанк 181, Совкомбанк 35, ВТБ 32, Росбанк 25, Промсвязьбанк 24.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Территории: Саратов 372 объекта, Балаково 43, Энгельс 39, прочие 93.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23826"/>
                </a:solidFill>
                <a:latin typeface="Open Sans"/>
              </a:rPr>
              <a:t>Ограничение: таблица 20.9 считает филиалы, а не дополнительные офисы и кассы; доля Сбербанка сопоставляет его рублёвые вклады (данные банка) со всеми вкладами населения (данные Банка России).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scripts/finance.py; Росстат, табл. 20.9–20.14; OpenStreetMap.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труда: как считает labor.py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Вакансии из API + статистика Росстата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5185"/>
                <a:gridCol w="2864815"/>
                <a:gridCol w="5068519"/>
              </a:tblGrid>
              <a:tr h="56692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Полнота данных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доля вакансий с зарплатой (99,8%) и с координатами (96,1%)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Распределение зарплат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vacancies.csv, поле salary_min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минимум, квартили, медиана, средняя, максимум; нули трактуются как «не указано»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Топы профессий и сфер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подсчёт частот; для каждой сферы — своя медиана зарплаты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Требования к опыту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vacancies.csv, поле experience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доли вакансий по числу требуемых лет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Концентрация работодателей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доля топ-10 и число работодателей с одной вакансией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Фактическая занятость и оплата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1.1, 4.6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занятые и средняя начисленная зарплата за 2024 г.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846320"/>
            <a:ext cx="11018520" cy="86868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4937759"/>
            <a:ext cx="10744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sal = [float(r["salary_min"]) for r in rows if r["salary_min"].strip()]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sal = [s for s in sal if s &gt; 0]              # 0 в поле означает «не указана»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med = st.median(sal)                          # 38 000 ₽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q   = st.quantiles(sal, n=4)                  # 28 500 ... 50 000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80644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analiz/вакансии_топ_профессий.csv и analiz/вакансии_по_сферам.csv (с медианами по сферам).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scripts/labor.py; API «Работа в России»; Росстат, табл. 1.1, 4.6.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Спрос по вакансиям и фактическая статистика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923826"/>
                </a:solidFill>
                <a:latin typeface="Open Sans"/>
              </a:rPr>
              <a:t>4 183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вакансии</a:t>
            </a:r>
          </a:p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в выборке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727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043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923826"/>
                </a:solidFill>
                <a:latin typeface="Open Sans"/>
              </a:rPr>
              <a:t>38 000 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043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медиана</a:t>
            </a:r>
          </a:p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предлагаемой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078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923826"/>
                </a:solidFill>
                <a:latin typeface="Open Sans"/>
              </a:rPr>
              <a:t>45 349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078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средняя</a:t>
            </a:r>
          </a:p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предлагаемая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797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4113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923826"/>
                </a:solidFill>
                <a:latin typeface="Open Sans"/>
              </a:rPr>
              <a:t>58 626 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113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средняя</a:t>
            </a:r>
          </a:p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фактическая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560320"/>
            <a:ext cx="11018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Распределение предлагаемых зарплат:  13 000 ₽ минимум  ·  28 500 ₽ 1-й квартиль  ·  38 000 ₽ медиана  ·  45 349 ₽ средняя  ·  50 000 ₽ 3-й квартиль  ·  275 000 ₽ максимум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971800"/>
            <a:ext cx="11018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Сферы: число вакансий и медиана предлагаемой зарплаты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3310128"/>
          <a:ext cx="10577778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074"/>
                <a:gridCol w="1212037"/>
                <a:gridCol w="1652778"/>
                <a:gridCol w="2424074"/>
                <a:gridCol w="1212037"/>
                <a:gridCol w="1652778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Сфера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Вакансий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Медиана,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Сфера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Вакансий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Медиана,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Здравоохранение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588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31 134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Транспорт, логистика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213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50 000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Продажи, торговля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460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43 000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Сельское хозяйство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184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35 000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Образование, наука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439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27 093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Электроэнергетика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182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52 529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Производство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360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45 200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Рабочие специальности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170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45 000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ЖКХ, эксплуатация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235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32 000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Строительство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115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50 767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66928" y="534924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88,5% вакансий — на опыт от нуля до одного года; топ профессий: продавец-кассир, пекарь, дворник.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Топ-10 работодателей дают 22,2% вакансий, при этом 476 работодателей имеют одну вакансию.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scripts/labor.py; API «Работа в России» (4 183 вакансии); Росстат, табл. 1.1, 4.6.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услуг: как считает goods.py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Объекты OSM + стоимостной разрез из статистики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5185"/>
                <a:gridCol w="2975000"/>
                <a:gridCol w="4958334"/>
              </a:tblGrid>
              <a:tr h="56692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Форматы магазинов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shop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подсчёт по значениям supermarket / convenience / general и их доли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Торговые сети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brand и operator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частота брендов; доля объектов с указанной сетью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Производства по видам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industrial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частота видов и доля нефти и газа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Территории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settlement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магазины, услуги и производства по городам; доли трёх крупнейших городов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Промышленность, АПК, розница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1.1, вторая часть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отгрузка по четырём видам деятельности; сумма — это промышленность всего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Соотношение размещения и денег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оба источника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объекты сопоставляются с миллиардами рублей: размещение и масштаб — разные вещи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846320"/>
            <a:ext cx="11018520" cy="86868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4937759"/>
            <a:ext cx="10744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manuf  = rv.require(t, "1.1", label="обрабаты- вающие производства", part=1)  # 799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mining = rv.require(t, "1.1", label="добыча  полезных  ископаемых", part=1)    # 70,4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industry = mining + manuf + energy + water                                    # 1 039,3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80644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analiz/объекты_по_городам.csv (52 территории) и analiz/товары_сводка.csv.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scripts/goods.py; OpenStreetMap; Росстат, табл. 1.1 (вторая часть).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Размещение объектов и денежный масштаб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51206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732"/>
                <a:gridCol w="1228953"/>
                <a:gridCol w="1228953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Форматы магазинов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Доля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Магазин у дома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951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60,3%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Супермаркет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621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39,4%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Общий профиль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417320"/>
          <a:ext cx="564184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2130"/>
                <a:gridCol w="1579717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Производства по видам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factory — завод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oil — нефть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gas — газ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склады, цемент, прочие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56432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Всего в блоке:  1 576 магазинов  ·  268 объектов услуг  ·  41 производство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8620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Торговые сети: Магнит 122, Пятёрочка 94, Гроздь 22; сетей 33, но бренд указан лишь у 20,7% магазинов.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Территории: 63,5% магазинов — в Саратове, Балаково и Энгельсе; на Саратов приходится 41,5%.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Деньги: промышленность 1 039,3 млрд ₽ (из них обработка 799), АПК 282,1 млрд ₽, розница 648,5 млрд ₽.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46% размеченных производств — нефть и газ; адрес улицы указан только у 18,9% объектов OSM.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23826"/>
                </a:solidFill>
                <a:latin typeface="Open Sans"/>
              </a:rPr>
              <a:t>Главное противоречие: по объектам магазинов в 38 раз больше, чем производств, а по деньгам промышленность больше розницы в 1,6 раза. OSM описывает размещение, статистика — масштаб.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scripts/goods.py; OpenStreetMap; Росстат, табл. 1.1.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Собран полный набор данных: 476 таблиц сборника, 4 183 вакансии, 2 432 объекта OSM — всё скриптами, числа в аналитике не переписаны вручную.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Экономика индустриально-аграрная: третичный сектор 54,1% ВРП и 66,6% занятости, реальный сектор — 31,4% ВРП.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Население сокращается (–5,3% с 2010 г.) при росте ВРП в 3,6 раза — рост за счёт производительности.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Финансовый сектор: сеть сжалась в 22 раза (66 → 3 филиала), вклады выросли в 6 раз — до 585,1 млрд ₽; 51,8% вкладов населения — в Сбербанке.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Рынок труда: медиана предлагаемой зарплаты 38 000 ₽ против 58 626 ₽ средней фактической; самый высокий спрос — в сферах с самой низкой оплатой.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Рынок товаров и услуг: 63,5% магазинов в трёх городах; промышленность по деньгам больше розницы в 1,6 раза, хотя по числу объектов картина обратная.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Ограничения: выборка вакансий 52,7% и смещена к ключевым словам; OSM неполон по промышленным объектам; показатели в текущих ценах.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Развитие: второй источник вакансий, снятие смещения выборки, дефляция рядов, карта объектов по координатам.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ПбГУ">
      <a:dk1>
        <a:srgbClr val="181818"/>
      </a:dk1>
      <a:lt1>
        <a:sysClr val="window" lastClr="FFFFFF"/>
      </a:lt1>
      <a:dk2>
        <a:srgbClr val="632423"/>
      </a:dk2>
      <a:lt2>
        <a:srgbClr val="FBF9F7"/>
      </a:lt2>
      <a:accent1>
        <a:srgbClr val="4F81BD"/>
      </a:accent1>
      <a:accent2>
        <a:srgbClr val="C0504D"/>
      </a:accent2>
      <a:accent3>
        <a:srgbClr val="923826"/>
      </a:accent3>
      <a:accent4>
        <a:srgbClr val="8064A2"/>
      </a:accent4>
      <a:accent5>
        <a:srgbClr val="8FAADC"/>
      </a:accent5>
      <a:accent6>
        <a:srgbClr val="AE6464"/>
      </a:accent6>
      <a:hlink>
        <a:srgbClr val="F2F2F2"/>
      </a:hlink>
      <a:folHlink>
        <a:srgbClr val="0070C0"/>
      </a:folHlink>
    </a:clrScheme>
    <a:fontScheme name="СПбГУ">
      <a:majorFont>
        <a:latin typeface="Open Sans Extrabold"/>
        <a:ea typeface=""/>
        <a:cs typeface=""/>
      </a:majorFont>
      <a:minorFont>
        <a:latin typeface="Open Sans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CD8C519613280949AA22B76DC3D9D7B2" ma:contentTypeVersion="17" ma:contentTypeDescription="Создание документа." ma:contentTypeScope="" ma:versionID="c1aee2efb7f4004aed17619c1a5733c5">
  <xsd:schema xmlns:xsd="http://www.w3.org/2001/XMLSchema" xmlns:xs="http://www.w3.org/2001/XMLSchema" xmlns:p="http://schemas.microsoft.com/office/2006/metadata/properties" xmlns:ns1="http://schemas.microsoft.com/sharepoint/v3" xmlns:ns2="9a63fdcb-41de-41b7-a29c-51f72461a67b" xmlns:ns3="02abcde4-0d41-4d92-9ad7-003839eabdeb" targetNamespace="http://schemas.microsoft.com/office/2006/metadata/properties" ma:root="true" ma:fieldsID="3d5820956cb7eaded5206240577e0de0" ns1:_="" ns2:_="" ns3:_="">
    <xsd:import namespace="http://schemas.microsoft.com/sharepoint/v3"/>
    <xsd:import namespace="9a63fdcb-41de-41b7-a29c-51f72461a67b"/>
    <xsd:import namespace="02abcde4-0d41-4d92-9ad7-003839eabde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Свойства единой политики соответствия требованиям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Действие с пользовательским интерфейсом в рамках единой политики соответствия требованиям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3fdcb-41de-41b7-a29c-51f72461a67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Теги изображений" ma:readOnly="false" ma:fieldId="{5cf76f15-5ced-4ddc-b409-7134ff3c332f}" ma:taxonomyMulti="true" ma:sspId="3dac30f7-4b6a-4d0c-a073-8dcd7cc3cb6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abcde4-0d41-4d92-9ad7-003839eabde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50e6830-2c83-4f36-8696-426a14030bf5}" ma:internalName="TaxCatchAll" ma:showField="CatchAllData" ma:web="02abcde4-0d41-4d92-9ad7-003839eabde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02abcde4-0d41-4d92-9ad7-003839eabdeb" xsi:nil="true"/>
    <lcf76f155ced4ddcb4097134ff3c332f xmlns="9a63fdcb-41de-41b7-a29c-51f72461a67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0AE8BD70-FE7F-4E2E-8A0C-B56C29E7533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D7F0394-DA30-41D1-BA79-55D90E960F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a63fdcb-41de-41b7-a29c-51f72461a67b"/>
    <ds:schemaRef ds:uri="02abcde4-0d41-4d92-9ad7-003839eabd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B233416-0D41-4853-A815-5627BA43D3C0}">
  <ds:schemaRefs>
    <ds:schemaRef ds:uri="http://purl.org/dc/terms/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9a63fdcb-41de-41b7-a29c-51f72461a67b"/>
    <ds:schemaRef ds:uri="02abcde4-0d41-4d92-9ad7-003839eabdeb"/>
    <ds:schemaRef ds:uri="http://schemas.microsoft.com/sharepoint/v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10867</TotalTime>
  <Words>0</Words>
  <Application>Microsoft Office PowerPoint</Application>
  <PresentationFormat>Широкоэкранный</PresentationFormat>
  <Paragraphs>0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Calibri</vt:lpstr>
      <vt:lpstr>Open Sans</vt:lpstr>
      <vt:lpstr>Open Sans Extrabold</vt:lpstr>
      <vt:lpstr>Open Sans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Надежда Лапшина</dc:creator>
  <cp:lastModifiedBy>Князев Егор Юрьевич</cp:lastModifiedBy>
  <cp:revision>612</cp:revision>
  <dcterms:created xsi:type="dcterms:W3CDTF">2020-09-23T09:03:25Z</dcterms:created>
  <dcterms:modified xsi:type="dcterms:W3CDTF">2026-05-15T16:41:13Z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0x010100CD8C519613280949AA22B76DC3D9D7B2</vt:lpwstr>
  </property>
  <property fmtid="{D5CDD505-2E9C-101B-9397-08002B2CF9AE}" pid="3" name="MediaServiceImageTags">
    <vt:lpwstr/>
  </property>
</Properties>
</file>