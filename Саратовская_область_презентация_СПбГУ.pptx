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256" r:id="rId11"/>
    <p:sldId id="257" r:id="rId12"/>
    <p:sldId id="258" r:id="rId10"/>
    <p:sldId id="259" r:id="rId9"/>
    <p:sldId id="260" r:id="rId8"/>
    <p:sldId id="261" r:id="rId7"/>
    <p:sldId id="262" r:id="rId6"/>
    <p:sldId id="263" r:id="rId5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9" userDrawn="1">
          <p15:clr>
            <a:srgbClr val="A4A3A4"/>
          </p15:clr>
        </p15:guide>
        <p15:guide id="2" pos="41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23826"/>
    <a:srgbClr val="8FAADC"/>
    <a:srgbClr val="66A0D0"/>
    <a:srgbClr val="8C6E8E"/>
    <a:srgbClr val="AE6464"/>
    <a:srgbClr val="F8F1F1"/>
    <a:srgbClr val="D3B25F"/>
    <a:srgbClr val="C2AA46"/>
    <a:srgbClr val="990000"/>
    <a:srgbClr val="C2A1C3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43" autoAdjust="0"/>
    <p:restoredTop sz="94652" autoAdjust="0"/>
  </p:normalViewPr>
  <p:slideViewPr>
    <p:cSldViewPr snapToGrid="0">
      <p:cViewPr varScale="1">
        <p:scale>
          <a:sx n="79" d="100"/>
          <a:sy n="79" d="100"/>
        </p:scale>
        <p:origin x="312" y="120"/>
      </p:cViewPr>
      <p:guideLst>
        <p:guide orient="horz" pos="2409"/>
        <p:guide pos="41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6" d="100"/>
          <a:sy n="126" d="100"/>
        </p:scale>
        <p:origin x="-4908" y="-9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4.xml"/><Relationship Id="rId10" Type="http://schemas.openxmlformats.org/officeDocument/2006/relationships/slide" Target="slides/slide3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ВРП</c:v>
                </c:pt>
              </c:strCache>
            </c:strRef>
          </c:tx>
          <c:dPt>
            <c:idx val="0"/>
            <c:spPr>
              <a:solidFill>
                <a:srgbClr val="C0504D"/>
              </a:solidFill>
            </c:spPr>
          </c:dPt>
          <c:dPt>
            <c:idx val="1"/>
            <c:spPr>
              <a:solidFill>
                <a:srgbClr val="923826"/>
              </a:solidFill>
            </c:spPr>
          </c:dPt>
          <c:dPt>
            <c:idx val="2"/>
            <c:spPr>
              <a:solidFill>
                <a:srgbClr val="595959"/>
              </a:solidFill>
            </c:spPr>
          </c:dPt>
          <c:cat>
            <c:strRef>
              <c:f>Sheet1!$A$2:$A$4</c:f>
              <c:strCache>
                <c:ptCount val="3"/>
                <c:pt idx="0">
                  <c:v>Первичный</c:v>
                </c:pt>
                <c:pt idx="1">
                  <c:v>Вторичный</c:v>
                </c:pt>
                <c:pt idx="2">
                  <c:v>Третичный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17.6</c:v>
                </c:pt>
                <c:pt idx="1">
                  <c:v>28.3</c:v>
                </c:pt>
                <c:pt idx="2">
                  <c:v>54.1</c:v>
                </c:pt>
              </c:numCache>
            </c:numRef>
          </c:val>
        </c:ser>
        <c:dLbls>
          <c:numFmt formatCode="0,0&quot;%&quot;" sourceLinked="0"/>
          <c:txPr>
            <a:bodyPr/>
            <a:lstStyle/>
            <a:p>
              <a:pPr>
                <a:defRPr sz="105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950"/>
          </a:pPr>
        </a:p>
      </c:txPr>
    </c:legend>
    <c:dispBlanksAs val="gap"/>
  </c:chart>
  <c:txPr>
    <a:bodyPr/>
    <a:lstStyle/>
    <a:p>
      <a:pPr>
        <a:defRPr sz="1050">
          <a:latin typeface="Open San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Занятость</c:v>
                </c:pt>
              </c:strCache>
            </c:strRef>
          </c:tx>
          <c:dPt>
            <c:idx val="0"/>
            <c:spPr>
              <a:solidFill>
                <a:srgbClr val="C0504D"/>
              </a:solidFill>
            </c:spPr>
          </c:dPt>
          <c:dPt>
            <c:idx val="1"/>
            <c:spPr>
              <a:solidFill>
                <a:srgbClr val="923826"/>
              </a:solidFill>
            </c:spPr>
          </c:dPt>
          <c:dPt>
            <c:idx val="2"/>
            <c:spPr>
              <a:solidFill>
                <a:srgbClr val="595959"/>
              </a:solidFill>
            </c:spPr>
          </c:dPt>
          <c:cat>
            <c:strRef>
              <c:f>Sheet1!$A$2:$A$4</c:f>
              <c:strCache>
                <c:ptCount val="3"/>
                <c:pt idx="0">
                  <c:v>Первичный</c:v>
                </c:pt>
                <c:pt idx="1">
                  <c:v>Вторичный</c:v>
                </c:pt>
                <c:pt idx="2">
                  <c:v>Третичный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8.6</c:v>
                </c:pt>
                <c:pt idx="1">
                  <c:v>24.8</c:v>
                </c:pt>
                <c:pt idx="2">
                  <c:v>66.6</c:v>
                </c:pt>
              </c:numCache>
            </c:numRef>
          </c:val>
        </c:ser>
        <c:dLbls>
          <c:numFmt formatCode="0,0&quot;%&quot;" sourceLinked="0"/>
          <c:txPr>
            <a:bodyPr/>
            <a:lstStyle/>
            <a:p>
              <a:pPr>
                <a:defRPr sz="105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950"/>
          </a:pPr>
        </a:p>
      </c:txPr>
    </c:legend>
    <c:dispBlanksAs val="gap"/>
  </c:chart>
  <c:txPr>
    <a:bodyPr/>
    <a:lstStyle/>
    <a:p>
      <a:pPr>
        <a:defRPr sz="1050">
          <a:latin typeface="Open Sans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D93DD-A479-4F6C-AF5E-6152D069177D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527F79-BC16-4DE0-8BA2-D3AF1D768C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947158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CDAC6F-BB1F-4063-BD4A-C26C60CE3AD6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060B39-B557-40BF-9ECA-089F8F8977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7456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Работа построена как пайплайн: сначала сбор данных, потом анализ по сферам. В докладе сначала покажу, откуда и как берутся данные, затем результаты.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Карта данных: четыре источника, каждому соответствует свой файл в data/. Дальше разберу каждый источник отдельно.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источник — сборник Росстата. Три шага: скачать, прочитать, отобрать. Ключевое: сохраняем не только значения, но и структуру таблиц — это нужно для автоматического чтения чисел на этапе анализа.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источник — вакансии. Главная техническая проблема: лимит в 200 записей на запрос. Обошли разбиением по ключевым словам, дубликаты убираются словарём по 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источник — OpenStreetMap. Разбираем выгрузку локально: 112 миллионов узлов, из них по тегам отбирается 47 тысяч кандидатов, после фильтра по границе остаётся 2 432 объекта.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Ключевое техническое решение: фильтрация по настоящей границе, а не по прямоугольнику. Проверка «точка внутри полигона» векторизована и разбита на порции, чтобы не съесть память.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 сбора: четыре таблицы и геометрия. Дальше начинается анализ — про него следующие слайды.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скрипт анализа — общая сводка. Показываю, как он читает числа: по номеру таблицы, году и подписи столбца. Никаких переписанных вручную цифр.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Секторы — не готовый показатель сборника, а наша агрегация видов деятельности. Поэтому показываю формулу: что именно складывается в каждый сектор.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Финансовый блок: показываю таблицу соответствия — что считаем, из какой таблицы берём и каким образом. Доля Сбербанка — отношение двух разных таблиц, это указано честно.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Результаты финансового блока. Главное: сеть сжалась, деньги выросли; и обязательно называю ограничение по филиалам.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Трудовой блок. Берём нижнюю границу вилки «от», потому что это консервативная оценка; нули в поле зарплаты означают отсутствие данных и отбрасываются.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 наблюдение блока: самые востребованные сферы — образование и здравоохранение — оплачиваются хуже всех. Спрос в бюджетном секторе не подкреплён оплатой.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Товарный блок: размещение берём из OSM, деньги — из статистики. Промышленность всего в сборнике не публикуется одной цифрой — это сумма четырёх видов деятельности.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Ключевой вывод блока: пространственные и стоимостные данные нельзя смешивать. Розничные точки в OSM размечены хорошо, промышленные площадки — плохо.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Восемь выводов: про данные, про общую картину и по одному на каждую сферу.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1"/>
            <a:ext cx="3987798" cy="368506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8204200" cy="6858000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6200774"/>
            <a:ext cx="3987798" cy="65722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396784"/>
            <a:ext cx="3987797" cy="11406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1086929" y="3685064"/>
            <a:ext cx="7117272" cy="25157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1168400" y="3746500"/>
            <a:ext cx="11023600" cy="2387600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2011" y="-267304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5048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1"/>
            <a:ext cx="3987798" cy="368506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8204200" cy="6857999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6200774"/>
            <a:ext cx="3987798" cy="6572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1086929" y="3685064"/>
            <a:ext cx="7117272" cy="25157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1168400" y="3746500"/>
            <a:ext cx="11023600" cy="2387600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2011" y="-646868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7821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1998" cy="112474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7084" y="1178944"/>
            <a:ext cx="7004916" cy="4122264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2915" y="-788417"/>
            <a:ext cx="5003322" cy="2701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377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7084" y="1178944"/>
            <a:ext cx="7004916" cy="412226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7589" y="-672018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9285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D3B2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5908" y="1178944"/>
            <a:ext cx="6246089" cy="412226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2915" y="-788417"/>
            <a:ext cx="5003322" cy="2701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4449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D3B2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5908" y="1178944"/>
            <a:ext cx="6246089" cy="4122264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7589" y="-672018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0321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2000" cy="149812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41" name="Рисунок 140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8602" y="1178944"/>
            <a:ext cx="6183396" cy="4122264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2915" y="-788417"/>
            <a:ext cx="5003322" cy="2701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619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53" name="Группа 52"/>
          <p:cNvGrpSpPr/>
          <p:nvPr userDrawn="1"/>
        </p:nvGrpSpPr>
        <p:grpSpPr>
          <a:xfrm>
            <a:off x="9143115" y="0"/>
            <a:ext cx="2527884" cy="1474000"/>
            <a:chOff x="9225933" y="44624"/>
            <a:chExt cx="2527884" cy="1474000"/>
          </a:xfrm>
        </p:grpSpPr>
        <p:cxnSp>
          <p:nvCxnSpPr>
            <p:cNvPr id="55" name="Прямая соединительная линия 54"/>
            <p:cNvCxnSpPr/>
            <p:nvPr userDrawn="1"/>
          </p:nvCxnSpPr>
          <p:spPr>
            <a:xfrm flipV="1">
              <a:off x="9225933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Прямая соединительная линия 56"/>
            <p:cNvCxnSpPr/>
            <p:nvPr userDrawn="1"/>
          </p:nvCxnSpPr>
          <p:spPr>
            <a:xfrm flipV="1">
              <a:off x="9340501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Прямая соединительная линия 57"/>
            <p:cNvCxnSpPr/>
            <p:nvPr userDrawn="1"/>
          </p:nvCxnSpPr>
          <p:spPr>
            <a:xfrm flipV="1">
              <a:off x="9447708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Прямая соединительная линия 58"/>
            <p:cNvCxnSpPr/>
            <p:nvPr userDrawn="1"/>
          </p:nvCxnSpPr>
          <p:spPr>
            <a:xfrm flipV="1">
              <a:off x="9562276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Прямая соединительная линия 59"/>
            <p:cNvCxnSpPr/>
            <p:nvPr userDrawn="1"/>
          </p:nvCxnSpPr>
          <p:spPr>
            <a:xfrm flipV="1">
              <a:off x="9677537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Прямая соединительная линия 60"/>
            <p:cNvCxnSpPr/>
            <p:nvPr userDrawn="1"/>
          </p:nvCxnSpPr>
          <p:spPr>
            <a:xfrm flipV="1">
              <a:off x="9792105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Прямая соединительная линия 61"/>
            <p:cNvCxnSpPr/>
            <p:nvPr userDrawn="1"/>
          </p:nvCxnSpPr>
          <p:spPr>
            <a:xfrm flipV="1">
              <a:off x="9899312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Прямая соединительная линия 62"/>
            <p:cNvCxnSpPr/>
            <p:nvPr userDrawn="1"/>
          </p:nvCxnSpPr>
          <p:spPr>
            <a:xfrm flipV="1">
              <a:off x="10013880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Прямая соединительная линия 63"/>
            <p:cNvCxnSpPr/>
            <p:nvPr userDrawn="1"/>
          </p:nvCxnSpPr>
          <p:spPr>
            <a:xfrm flipV="1">
              <a:off x="10132589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Прямая соединительная линия 64"/>
            <p:cNvCxnSpPr/>
            <p:nvPr userDrawn="1"/>
          </p:nvCxnSpPr>
          <p:spPr>
            <a:xfrm flipV="1">
              <a:off x="10247157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Прямая соединительная линия 65"/>
            <p:cNvCxnSpPr/>
            <p:nvPr userDrawn="1"/>
          </p:nvCxnSpPr>
          <p:spPr>
            <a:xfrm flipV="1">
              <a:off x="10354364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Прямая соединительная линия 66"/>
            <p:cNvCxnSpPr/>
            <p:nvPr userDrawn="1"/>
          </p:nvCxnSpPr>
          <p:spPr>
            <a:xfrm flipV="1">
              <a:off x="10468932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Прямая соединительная линия 67"/>
            <p:cNvCxnSpPr/>
            <p:nvPr userDrawn="1"/>
          </p:nvCxnSpPr>
          <p:spPr>
            <a:xfrm flipV="1">
              <a:off x="10584193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Прямая соединительная линия 68"/>
            <p:cNvCxnSpPr/>
            <p:nvPr userDrawn="1"/>
          </p:nvCxnSpPr>
          <p:spPr>
            <a:xfrm flipV="1">
              <a:off x="10698761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Прямая соединительная линия 69"/>
            <p:cNvCxnSpPr/>
            <p:nvPr userDrawn="1"/>
          </p:nvCxnSpPr>
          <p:spPr>
            <a:xfrm flipV="1">
              <a:off x="10805968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Прямая соединительная линия 70"/>
            <p:cNvCxnSpPr/>
            <p:nvPr userDrawn="1"/>
          </p:nvCxnSpPr>
          <p:spPr>
            <a:xfrm flipV="1">
              <a:off x="10920536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41" name="Рисунок 140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8602" y="1178944"/>
            <a:ext cx="6183396" cy="4122264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7589" y="-672018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662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+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Объект 2">
            <a:extLst>
              <a:ext uri="{FF2B5EF4-FFF2-40B4-BE49-F238E27FC236}">
                <a16:creationId xmlns:a16="http://schemas.microsoft.com/office/drawing/2014/main" id="{A336AAA8-2CC7-4048-B61E-4DFFCFADE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71450" y="1165860"/>
            <a:ext cx="11852910" cy="55149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lnSpc>
                <a:spcPct val="100000"/>
              </a:lnSpc>
              <a:spcBef>
                <a:spcPts val="600"/>
              </a:spcBef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lnSpc>
                <a:spcPct val="100000"/>
              </a:lnSpc>
              <a:spcBef>
                <a:spcPts val="600"/>
              </a:spcBef>
              <a:buNone/>
              <a:defRPr sz="12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lnSpc>
                <a:spcPct val="100000"/>
              </a:lnSpc>
              <a:spcBef>
                <a:spcPts val="60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lnSpc>
                <a:spcPct val="100000"/>
              </a:lnSpc>
              <a:spcBef>
                <a:spcPts val="60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92992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+ ненумер. спис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Объект 2">
            <a:extLst>
              <a:ext uri="{FF2B5EF4-FFF2-40B4-BE49-F238E27FC236}">
                <a16:creationId xmlns:a16="http://schemas.microsoft.com/office/drawing/2014/main" id="{A336AAA8-2CC7-4048-B61E-4DFFCFADE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65735" y="1188720"/>
            <a:ext cx="6086475" cy="5486399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A336AAA8-2CC7-4048-B61E-4DFFCFADE638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426329" y="1183006"/>
            <a:ext cx="5580886" cy="5492114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32289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+ нумерованный спис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Объект 2">
            <a:extLst>
              <a:ext uri="{FF2B5EF4-FFF2-40B4-BE49-F238E27FC236}">
                <a16:creationId xmlns:a16="http://schemas.microsoft.com/office/drawing/2014/main" id="{A336AAA8-2CC7-4048-B61E-4DFFCFADE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65735" y="1148715"/>
            <a:ext cx="11835765" cy="5486400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Font typeface="+mj-lt"/>
              <a:buAutoNum type="arabicPeriod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800100" indent="-342900">
              <a:lnSpc>
                <a:spcPct val="100000"/>
              </a:lnSpc>
              <a:buFont typeface="+mj-lt"/>
              <a:buAutoNum type="arabicPeriod"/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257300" indent="-342900">
              <a:lnSpc>
                <a:spcPct val="100000"/>
              </a:lnSpc>
              <a:buFont typeface="+mj-lt"/>
              <a:buAutoNum type="arabicPeriod"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714500" indent="-342900">
              <a:lnSpc>
                <a:spcPct val="100000"/>
              </a:lnSpc>
              <a:buFont typeface="+mj-lt"/>
              <a:buAutoNum type="arabicPeriod"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2171700" indent="-342900">
              <a:lnSpc>
                <a:spcPct val="100000"/>
              </a:lnSpc>
              <a:buFont typeface="+mj-lt"/>
              <a:buAutoNum type="arabicPeriod"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578974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сто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1450" y="1177290"/>
            <a:ext cx="11812905" cy="54864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9928204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Заголовок + текст + рисун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E070AE28-7323-4912-8FA8-E5AE46CD17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7" y="0"/>
            <a:ext cx="7008813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1450" y="1138687"/>
            <a:ext cx="4831871" cy="551357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4840605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869188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Рисунок +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E070AE28-7323-4912-8FA8-E5AE46CD17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1"/>
            <a:ext cx="12192000" cy="57035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8279" y="5852160"/>
            <a:ext cx="11886086" cy="66294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842980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лева +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E070AE28-7323-4912-8FA8-E5AE46CD17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6006465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66072" y="1786243"/>
            <a:ext cx="5242849" cy="66294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831" y="554439"/>
            <a:ext cx="5264342" cy="894799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079768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Рисунок 2">
            <a:extLst>
              <a:ext uri="{FF2B5EF4-FFF2-40B4-BE49-F238E27FC236}">
                <a16:creationId xmlns:a16="http://schemas.microsoft.com/office/drawing/2014/main" id="{E070AE28-7323-4912-8FA8-E5AE46CD17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6006465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5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1532" y="1786243"/>
            <a:ext cx="5681932" cy="66294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6531" y="554439"/>
            <a:ext cx="4998322" cy="894799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71101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в центре + врезка +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0896758-14D2-4791-A35D-AC2EEF5FA7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213339"/>
            <a:ext cx="12203466" cy="2017541"/>
          </a:xfrm>
          <a:prstGeom prst="rect">
            <a:avLst/>
          </a:prstGeom>
        </p:spPr>
      </p:pic>
      <p:sp>
        <p:nvSpPr>
          <p:cNvPr id="5" name="Прямоугольник: один усеченный угол 11">
            <a:extLst>
              <a:ext uri="{FF2B5EF4-FFF2-40B4-BE49-F238E27FC236}">
                <a16:creationId xmlns:a16="http://schemas.microsoft.com/office/drawing/2014/main" id="{06DDF098-5CAA-4198-B8DF-EFE37CAA9E92}"/>
              </a:ext>
            </a:extLst>
          </p:cNvPr>
          <p:cNvSpPr/>
          <p:nvPr userDrawn="1"/>
        </p:nvSpPr>
        <p:spPr>
          <a:xfrm>
            <a:off x="7833360" y="2560320"/>
            <a:ext cx="3933287" cy="4000499"/>
          </a:xfrm>
          <a:prstGeom prst="snip1Rect">
            <a:avLst>
              <a:gd name="adj" fmla="val 12725"/>
            </a:avLst>
          </a:prstGeom>
          <a:solidFill>
            <a:srgbClr val="F8F1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         </a:t>
            </a:r>
            <a:endParaRPr lang="ru-RU" dirty="0"/>
          </a:p>
        </p:txBody>
      </p:sp>
      <p:sp>
        <p:nvSpPr>
          <p:cNvPr id="7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1"/>
          </p:nvPr>
        </p:nvSpPr>
        <p:spPr>
          <a:xfrm>
            <a:off x="8161522" y="2830182"/>
            <a:ext cx="3051307" cy="221044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2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2"/>
          </p:nvPr>
        </p:nvSpPr>
        <p:spPr>
          <a:xfrm>
            <a:off x="177165" y="3406140"/>
            <a:ext cx="7315201" cy="313753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9967895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Рисунок в центре + врезка +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0896758-14D2-4791-A35D-AC2EEF5FA7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1213339"/>
            <a:ext cx="7622546" cy="2017541"/>
          </a:xfrm>
          <a:prstGeom prst="rect">
            <a:avLst/>
          </a:prstGeom>
        </p:spPr>
      </p:pic>
      <p:sp>
        <p:nvSpPr>
          <p:cNvPr id="5" name="Прямоугольник: один усеченный угол 11">
            <a:extLst>
              <a:ext uri="{FF2B5EF4-FFF2-40B4-BE49-F238E27FC236}">
                <a16:creationId xmlns:a16="http://schemas.microsoft.com/office/drawing/2014/main" id="{06DDF098-5CAA-4198-B8DF-EFE37CAA9E92}"/>
              </a:ext>
            </a:extLst>
          </p:cNvPr>
          <p:cNvSpPr/>
          <p:nvPr userDrawn="1"/>
        </p:nvSpPr>
        <p:spPr>
          <a:xfrm>
            <a:off x="7833360" y="1213338"/>
            <a:ext cx="3933287" cy="5331235"/>
          </a:xfrm>
          <a:prstGeom prst="snip1Rect">
            <a:avLst>
              <a:gd name="adj" fmla="val 12725"/>
            </a:avLst>
          </a:prstGeom>
          <a:solidFill>
            <a:srgbClr val="F8F1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         </a:t>
            </a:r>
            <a:endParaRPr lang="ru-RU" dirty="0"/>
          </a:p>
        </p:txBody>
      </p:sp>
      <p:sp>
        <p:nvSpPr>
          <p:cNvPr id="7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1"/>
          </p:nvPr>
        </p:nvSpPr>
        <p:spPr>
          <a:xfrm>
            <a:off x="8161522" y="1483200"/>
            <a:ext cx="3051307" cy="221044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8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2"/>
          </p:nvPr>
        </p:nvSpPr>
        <p:spPr>
          <a:xfrm>
            <a:off x="177165" y="3406140"/>
            <a:ext cx="7315201" cy="313753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49954713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иаграмма + текст справ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8922" y="1223010"/>
            <a:ext cx="5575433" cy="53721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8" name="Диаграмма 7"/>
          <p:cNvSpPr>
            <a:spLocks noGrp="1"/>
          </p:cNvSpPr>
          <p:nvPr>
            <p:ph type="chart" sz="quarter" idx="11"/>
          </p:nvPr>
        </p:nvSpPr>
        <p:spPr>
          <a:xfrm>
            <a:off x="171451" y="1229042"/>
            <a:ext cx="6052184" cy="535463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ru-RU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961370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3954467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&quot;Дорожная карта&quo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Соединительная линия уступом 5"/>
          <p:cNvCxnSpPr/>
          <p:nvPr userDrawn="1"/>
        </p:nvCxnSpPr>
        <p:spPr>
          <a:xfrm>
            <a:off x="165735" y="1417320"/>
            <a:ext cx="11755755" cy="1194435"/>
          </a:xfrm>
          <a:prstGeom prst="bentConnector3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8579" y="1603362"/>
            <a:ext cx="1560232" cy="236284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1"/>
          </p:nvPr>
        </p:nvSpPr>
        <p:spPr>
          <a:xfrm>
            <a:off x="2711624" y="1603362"/>
            <a:ext cx="1560232" cy="236284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2"/>
          </p:nvPr>
        </p:nvSpPr>
        <p:spPr>
          <a:xfrm>
            <a:off x="6308600" y="1277607"/>
            <a:ext cx="5612889" cy="56262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3"/>
          </p:nvPr>
        </p:nvSpPr>
        <p:spPr>
          <a:xfrm>
            <a:off x="5879975" y="2780929"/>
            <a:ext cx="3418329" cy="101383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0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9479220" y="2780929"/>
            <a:ext cx="2442270" cy="101383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1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6"/>
          </p:nvPr>
        </p:nvSpPr>
        <p:spPr>
          <a:xfrm>
            <a:off x="348577" y="4821687"/>
            <a:ext cx="11612917" cy="149391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31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5314609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1998" cy="112474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0"/>
          </p:nvPr>
        </p:nvSpPr>
        <p:spPr>
          <a:xfrm>
            <a:off x="439165" y="2249512"/>
            <a:ext cx="5108575" cy="49053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 marL="137160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 marL="182880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Прямоугольник 3"/>
          <p:cNvSpPr/>
          <p:nvPr userDrawn="1"/>
        </p:nvSpPr>
        <p:spPr>
          <a:xfrm>
            <a:off x="439165" y="1354812"/>
            <a:ext cx="211307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rPr>
              <a:t>Контакты</a:t>
            </a:r>
          </a:p>
        </p:txBody>
      </p:sp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2915" y="-788417"/>
            <a:ext cx="5003322" cy="2701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71267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Relationship Id="rId2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D3705242-639C-4816-B6E8-01005FE983B9}"/>
              </a:ext>
            </a:extLst>
          </p:cNvPr>
          <p:cNvCxnSpPr>
            <a:cxnSpLocks/>
          </p:cNvCxnSpPr>
          <p:nvPr userDrawn="1"/>
        </p:nvCxnSpPr>
        <p:spPr>
          <a:xfrm>
            <a:off x="0" y="163887"/>
            <a:ext cx="10548046" cy="0"/>
          </a:xfrm>
          <a:prstGeom prst="line">
            <a:avLst/>
          </a:prstGeom>
          <a:ln w="9525">
            <a:solidFill>
              <a:srgbClr val="9238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Рисунок 3"/>
          <p:cNvPicPr>
            <a:picLocks noChangeAspect="1"/>
          </p:cNvPicPr>
          <p:nvPr userDrawn="1"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3813" y="-309257"/>
            <a:ext cx="2044945" cy="1104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490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2" r:id="rId2"/>
    <p:sldLayoutId id="2147483651" r:id="rId3"/>
    <p:sldLayoutId id="2147483673" r:id="rId4"/>
    <p:sldLayoutId id="2147483661" r:id="rId5"/>
    <p:sldLayoutId id="2147483674" r:id="rId6"/>
    <p:sldLayoutId id="2147483660" r:id="rId7"/>
    <p:sldLayoutId id="2147483675" r:id="rId8"/>
    <p:sldLayoutId id="2147483654" r:id="rId9"/>
    <p:sldLayoutId id="2147483664" r:id="rId10"/>
    <p:sldLayoutId id="2147483658" r:id="rId11"/>
    <p:sldLayoutId id="2147483655" r:id="rId12"/>
    <p:sldLayoutId id="2147483657" r:id="rId13"/>
    <p:sldLayoutId id="2147483663" r:id="rId14"/>
    <p:sldLayoutId id="2147483665" r:id="rId15"/>
    <p:sldLayoutId id="2147483670" r:id="rId16"/>
    <p:sldLayoutId id="2147483667" r:id="rId17"/>
    <p:sldLayoutId id="2147483677" r:id="rId18"/>
    <p:sldLayoutId id="2147483668" r:id="rId19"/>
    <p:sldLayoutId id="2147483669" r:id="rId20"/>
    <p:sldLayoutId id="2147483671" r:id="rId2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0" y="1783080"/>
            <a:ext cx="3611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FFFFF"/>
                </a:solidFill>
                <a:latin typeface="Open Sans"/>
              </a:rPr>
              <a:t>Факультет прикладной математики — процессов управления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81328" y="3977639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Open Sans"/>
              </a:rPr>
              <a:t>Саратовская область:</a:t>
            </a:r>
          </a:p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Open Sans"/>
              </a:rPr>
              <a:t>сбор данных, парсинг,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" y="5257800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Open Sans"/>
              </a:rPr>
              <a:t>Росстат  ·  «Работа в России»  ·  OpenStreetMap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63093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Open Sans"/>
              </a:rPr>
              <a:t>Санкт-Петербург,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Сбор данных: источники и файлы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Четыре источника, девять скриптов, один слой steps/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17320"/>
          <a:ext cx="1101851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4444"/>
                <a:gridCol w="2424074"/>
                <a:gridCol w="3525926"/>
                <a:gridCol w="2424074"/>
              </a:tblGrid>
              <a:tr h="71323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Источник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Скрипты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Что получаем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Файл в проекте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Росстат, сборник «Регионы России — 2025»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download_rosstat</a:t>
                      </a:r>
                    </a:p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rosstat_docx_to_text</a:t>
                      </a:r>
                    </a:p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rosstat_extract_region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476 таблиц со строкой «Саратовская область»: номер таблицы, шапка, значения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data/rosstat/saratov_tables.json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Портал «Работа в России» (API)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parse_vacancies_trudvsem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4 183 вакансии × 15 полей: профессия, зарплата, работодатель, координаты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data/labor/vacancies.csv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OpenStreetMap (выгрузка Geofabrik)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download_osm_pbf</a:t>
                      </a:r>
                    </a:p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parse_osm_objects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2 432 объекта: банки и банкоматы, магазины, услуги, производства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data/osm/objects.csv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Nominatim (справочная геометрия)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get_region_boundary</a:t>
                      </a:r>
                    </a:p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assign_cities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контур области из 8 307 точек и привязка объектов к 27 городам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data/osm/region_boundary.geojson,</a:t>
                      </a:r>
                    </a:p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86400"/>
            <a:ext cx="11018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Скачивание и разбор вынесены в общий слой scripts/steps/ — эти данные нужны всем сферам: банки и магазины лежат в одном файле OSM, разделы статистики — в одном архиве.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Скрипты сбора: scripts/steps/. Запускаются один раз, результаты кэшируются.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Источник 1. Росстат: от архива до таблиц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Как 823 таблицы сборника превращаются в выборку по региону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17320"/>
          <a:ext cx="11018518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407"/>
                <a:gridCol w="2313889"/>
                <a:gridCol w="4848148"/>
                <a:gridCol w="2424074"/>
              </a:tblGrid>
              <a:tr h="65836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Шаг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Скрипт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Что делает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Результат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1. Скачать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download_rosstat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Забирает .rar (11 МБ) и .pdf сборника с сайта Росстата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22 раздела .docx после распаковки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2. Прочитать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rosstat_docx_to_text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Обходит XML-тело каждого .docx, чтобы сохранить порядок абзацев и таблиц, и пишет текст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23 дампа, 823 таблицы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3. Отобрать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rosstat_extract_region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Ищет «Саратовская область» в любой ячейке строки, сохраняет номер таблицы, шапку и строки региона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saratov_tables.json — 476 таблиц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663440"/>
            <a:ext cx="11018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923826"/>
                </a:solidFill>
                <a:latin typeface="Open Sans"/>
              </a:rPr>
              <a:t>Почему сохраняется вся шапка: номер таблицы и подписи столбцов позволяют потом читать конкретное значение — «табл. 20.10, 2025 год, вклады физических лиц» — не переписывая цифры в код.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486400"/>
            <a:ext cx="11018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Особенность вёрстки: части одной таблицы идут отдельными блоками без подписи, а регион в «продолжениях» стоит в последней ячейке. Поэтому номер таблицы наследуется от подписи, а поиск идёт по любой ячейке строки — иначе терялось бы 79 таблиц из 476.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rosstat.gov.ru/folder/210/document/13204; scripts/steps/download_rosstat.py и далее.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Источник 2. Вакансии: обход лимита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«Работа в России», регион 6400000000000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17320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23826"/>
                </a:solidFill>
                <a:latin typeface="Open Sans"/>
              </a:rPr>
              <a:t>Ограничение API:  offset + limit ≤ 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2880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800"/>
              </a:spcAft>
            </a:pPr>
            <a:r>
              <a:rPr sz="1250">
                <a:solidFill>
                  <a:srgbClr val="181818"/>
                </a:solidFill>
                <a:latin typeface="Open Sans"/>
              </a:rPr>
              <a:t>•  Штатная пагинация невозможна: на второй странице сервис отвечает ошибкой.</a:t>
            </a:r>
          </a:p>
          <a:p>
            <a:pPr marL="219456" indent="-219456">
              <a:spcAft>
                <a:spcPts val="800"/>
              </a:spcAft>
            </a:pPr>
            <a:r>
              <a:rPr sz="1250">
                <a:solidFill>
                  <a:srgbClr val="181818"/>
                </a:solidFill>
                <a:latin typeface="Open Sans"/>
              </a:rPr>
              <a:t>•  Решение — перебор не по страницам, а по 129 ключевым словам профессий.</a:t>
            </a:r>
          </a:p>
          <a:p>
            <a:pPr marL="219456" indent="-219456">
              <a:spcAft>
                <a:spcPts val="800"/>
              </a:spcAft>
            </a:pPr>
            <a:r>
              <a:rPr sz="1250">
                <a:solidFill>
                  <a:srgbClr val="181818"/>
                </a:solidFill>
                <a:latin typeface="Open Sans"/>
              </a:rPr>
              <a:t>•  На каждое слово до 2 страниц по 100 записей, 5 потоков параллельно.</a:t>
            </a:r>
          </a:p>
          <a:p>
            <a:pPr marL="219456" indent="-219456">
              <a:spcAft>
                <a:spcPts val="800"/>
              </a:spcAft>
            </a:pPr>
            <a:r>
              <a:rPr sz="1250">
                <a:solidFill>
                  <a:srgbClr val="181818"/>
                </a:solidFill>
                <a:latin typeface="Open Sans"/>
              </a:rPr>
              <a:t>•  Дедупликация — структурой данных: словарь по id вакансии, повторы исчезают сами.</a:t>
            </a:r>
          </a:p>
          <a:p>
            <a:pPr marL="219456" indent="-219456">
              <a:spcAft>
                <a:spcPts val="800"/>
              </a:spcAft>
            </a:pPr>
            <a:r>
              <a:rPr sz="1250">
                <a:solidFill>
                  <a:srgbClr val="181818"/>
                </a:solidFill>
                <a:latin typeface="Open Sans"/>
              </a:rPr>
              <a:t>•  Повторы запросов: 3 попытки с растущей паузой; неудача одного слова не рвёт сбор.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417320"/>
            <a:ext cx="5321808" cy="237744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5047488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def collect_kw(kw):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    got = {}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    for offset in (0, 100):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        d = fetch(kw, offset)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        for item in d["results"]["vacancies"]: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            got[item["vacancy"]["id"]] = item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        if len(vacs) &lt; 100: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            break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    return kw, got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3977639"/>
            <a:ext cx="53218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23826"/>
                </a:solidFill>
                <a:latin typeface="Open Sans"/>
              </a:rPr>
              <a:t>Результат:  4 183 уникальные вакансии из 7 939 активных (52,7%)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4434840"/>
            <a:ext cx="5321808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6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Файл data/labor/vacancies.csv — 4 183 строки × 15 колонок (2,2 МБ).</a:t>
            </a:r>
          </a:p>
          <a:p>
            <a:pPr marL="219456" indent="-219456">
              <a:spcAft>
                <a:spcPts val="6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Рядом vacancies_raw.json — 4 183 сырых ответа API (14,7 МБ).</a:t>
            </a:r>
          </a:p>
          <a:p>
            <a:pPr marL="219456" indent="-219456">
              <a:spcAft>
                <a:spcPts val="6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Ограничение: выборка смещена к профессиям из списка ключевых слов.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opendata.trudvsem.ru/api/v1/vacancies/region/6400000000000; scripts/steps/parse_vacancies_trudvsem.py.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Источник 3. OpenStreetMap: объекты области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Выгрузка Geofabrik и отбор по тегам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17320"/>
          <a:ext cx="1101851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3333"/>
                <a:gridCol w="6831482"/>
                <a:gridCol w="2203704"/>
              </a:tblGrid>
              <a:tr h="5669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Шаг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Что происходит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Числа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Скачивание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download_osm_pbf: выгрузка Приволжского федерального округа с Geofabrik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739 МБ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Разбор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parse_osm_objects: osmium проходит файл потоком, объекты не держатся в памяти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112 млн узлов,</a:t>
                      </a:r>
                    </a:p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11 млн линий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Отбор по тегам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amenity=bank|atm;  industrial=*;  shop=supermarket|convenience|general;</a:t>
                      </a:r>
                    </a:p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shop=beauty|hairdresser|massage;  leisure=tanning_salon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47 658 кандидатов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Фильтр по границе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лучевой метод, точки внутри контура области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2 432 объекта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754880"/>
            <a:ext cx="11018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Точки (node) берутся как есть, площадки (way) — по центру масс их вершин. Один объект может попасть в несколько категорий: магазин с аптекой — и торговля, и услуги.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532120"/>
            <a:ext cx="11018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923826"/>
                </a:solidFill>
                <a:latin typeface="Open Sans"/>
              </a:rPr>
              <a:t>Почему выгрузка, а не Overpass API: сервис блокировал запросы по области. Локальный разбор не зависит от чужого API и даёт все объекты региона, а не только попавшие в ответ.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download.geofabrik.de/russia/volga-fed-district-latest.osm.pbf; scripts/steps/parse_osm_objects.py.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Геометрия: зачем нужен контур области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Фильтр по границе и привязка объектов к городам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23826"/>
                </a:solidFill>
                <a:latin typeface="Open Sans"/>
              </a:rPr>
              <a:t>Проблема:  прямоугольник вокруг области захватывает пять соседних регионов и Казахстан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8308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Поэтому объекты фильтруются по реальному контуру, полученному из Nominatim: 8 307 точек.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40280"/>
            <a:ext cx="6766560" cy="237744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2331720"/>
            <a:ext cx="6492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def ray_inside(poly, pts):            # точка внутри, если луч пересекает контур нечётно раз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    x1, y1 = poly[None, :, 0], poly[None, :, 1]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    x2 = np.roll(poly[:, 0], -1)[None, :]      # соседняя вершина ребра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    cond = (y1 &gt; y) != (y2 &gt; y)                # ребро пересекает горизонталь точки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    xint = (x2 - x1) * (y - y1) / (y2 - y1) + x1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    return (cond &amp; (x &lt; xint)).sum(axis=1) % 2 == 1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def inside(pts, batch=800):           # батчи: 800 x 8 307 — около 53 МБ на массив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   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240280"/>
            <a:ext cx="3995928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47 658 объектов × 8 307 вершин — цикл на Python занял бы часы.</a:t>
            </a:r>
          </a:p>
          <a:p>
            <a:pPr marL="219456" indent="-219456"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Матрица «точка × ребро» считается в numpy сразу для всех точек.</a:t>
            </a:r>
          </a:p>
          <a:p>
            <a:pPr marL="219456" indent="-219456"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Порция 800 точек ограничивает память: полная матрица заняла бы ~3 ГБ.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754880"/>
            <a:ext cx="11018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23826"/>
                </a:solidFill>
                <a:latin typeface="Open Sans"/>
              </a:rPr>
              <a:t>Привязка к городам (assign_cities)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07492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В OSM поле города заполнено редко, поэтому город определяется по ближайшему из 27 населённых пунктов.</a:t>
            </a:r>
          </a:p>
          <a:p>
            <a:pPr marL="219456" indent="-219456"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Расстояние — равноугольная аппроксимация (111 км на градус с поправкой на косинус широты); сравниваются квадраты расстояний, корень берётся один раз.</a:t>
            </a:r>
          </a:p>
          <a:p>
            <a:pPr marL="219456" indent="-219456"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Если ближайший город дальше 30 км, объект попадает в группу «прочие населённые пункты» — иначе он приписался бы городу в десятках километров. В пределах 30 км оказалось 96% объектов.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scripts/steps/get_region_boundary.py, parse_osm_objects.py, assign_cities.py.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Что получилось после сбора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Файлы, с которыми работают скрипты анализа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63040"/>
          <a:ext cx="1101851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5556"/>
                <a:gridCol w="1212037"/>
                <a:gridCol w="1542592"/>
                <a:gridCol w="4958334"/>
              </a:tblGrid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Файл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Размер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Объём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Что внутри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data/rosstat/saratov_tables.json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0,6 МБ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476 таблиц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номер таблицы, шапка (годы и подписи), строки региона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data/labor/vacancies.csv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2,2 МБ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4 183 × 15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профессия, зарплата от и до, работодатель, ИНН, координаты, опыт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data/osm/objects.csv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0,2 МБ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2 432 × 14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тип, категория, название, координаты, адрес, бренд, теги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data/osm/objects_by_city.csv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0,3 МБ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2 432 × 15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то же плюс колонка settlement — привязанный город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data/osm/region_boundary.geojson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0,2 МБ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8 307 точек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контур области из Nominatim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937760"/>
            <a:ext cx="11018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В репозиторий не входят крупные исходники (выгрузка OSM 739 МБ, архив и PDF сборника, сырые ответы API) — они восстанавливаются запуском скриптов слоя steps.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532120"/>
            <a:ext cx="11018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923826"/>
                </a:solidFill>
                <a:latin typeface="Open Sans"/>
              </a:rPr>
              <a:t>Дальше эти файлы читают четыре скрипта анализа: overview.py, finance.py, labor.py, goods.py. Каждый печатает свой блок отчёта и пишет таблицы в analiz/.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Полный перечень — в scripts/README.md и data/README.md.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Общий анализ области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overview.py: регион в цифрах из таблиц 1.1, 1.7, 2.1, 2.3, 9.2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25880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23826"/>
                </a:solidFill>
                <a:latin typeface="Open Sans"/>
              </a:rPr>
              <a:t>Как скрипт берёт числа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5394960" cy="178308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828800"/>
            <a:ext cx="512064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t = rv.load(PROJECT)                      # saratov_tables.json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area = rv.require(t, "1.1", label="Площадь территории")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pop  = rv.require(t, "1.1", label="Численность")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grp  = rv.require(t, "1.1", label="Валовой продукт")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grp_pc = rv.require(t, "9.2", year=2023)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pop_2010 = rv.require(t, "2.1", year=2010)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931920"/>
            <a:ext cx="5394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Адресация: «номер таблицы + год + подпись столбца». Если столбец не найден, скрипт падает с ошибкой — пустое значение не подставляется.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153619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23826"/>
                </a:solidFill>
                <a:latin typeface="Open Sans"/>
              </a:rPr>
              <a:t>101,2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59" y="2039112"/>
            <a:ext cx="11018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тыс. км²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площадь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9812" y="141732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12964" y="153619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23826"/>
                </a:solidFill>
                <a:latin typeface="Open Sans"/>
              </a:rPr>
              <a:t>2 385,2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5532" y="2039112"/>
            <a:ext cx="11018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тыс. человек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население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15984" y="141732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89136" y="153619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23826"/>
                </a:solidFill>
                <a:latin typeface="Open Sans"/>
              </a:rPr>
              <a:t>1 147,9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61704" y="2039112"/>
            <a:ext cx="11018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тыс. человек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занятых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392156" y="141732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65308" y="153619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23826"/>
                </a:solidFill>
                <a:latin typeface="Open Sans"/>
              </a:rPr>
              <a:t>1 345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37876" y="2039112"/>
            <a:ext cx="11018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млрд ₽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ВРП, 2023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60604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6792" y="27249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23826"/>
                </a:solidFill>
                <a:latin typeface="Open Sans"/>
              </a:rPr>
              <a:t>561 624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59" y="3227832"/>
            <a:ext cx="11018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₽ ВРП на душу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39812" y="260604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12964" y="27249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23826"/>
                </a:solidFill>
                <a:latin typeface="Open Sans"/>
              </a:rPr>
              <a:t>58 626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5532" y="3227832"/>
            <a:ext cx="11018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₽ зарплата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15984" y="260604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9136" y="27249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23826"/>
                </a:solidFill>
                <a:latin typeface="Open Sans"/>
              </a:rPr>
              <a:t>316,7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61704" y="3227832"/>
            <a:ext cx="11018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млрд ₽ инвестиции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392156" y="260604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65308" y="27249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23826"/>
                </a:solidFill>
                <a:latin typeface="Open Sans"/>
              </a:rPr>
              <a:t>328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37876" y="3227832"/>
            <a:ext cx="11018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муниципальных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образований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3840480"/>
            <a:ext cx="5321808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6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Население сократилось на 5,3% с 2010 г. (2 519,3 → 2 385,2 тыс.), а ВРП вырос в 3,6 раза.</a:t>
            </a:r>
          </a:p>
          <a:p>
            <a:pPr marL="219456" indent="-219456">
              <a:spcAft>
                <a:spcPts val="6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Городское население — 77,0%; в области 37 районов и 4 городских округа.</a:t>
            </a:r>
          </a:p>
          <a:p>
            <a:pPr marL="219456" indent="-219456">
              <a:spcAft>
                <a:spcPts val="6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Инвестиции составляют 23,5% ВРП.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scripts/overview.py → analiz/обзор_показатели.csv; Росстат, табл. 1.1, 1.7, 2.1, 2.3, 9.2.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Общий анализ: структура экономики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Секторы считаются как суммы видов деятельности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9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371600"/>
          <a:ext cx="356616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206240" y="1371600"/>
          <a:ext cx="35661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98348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923826"/>
                </a:solidFill>
                <a:latin typeface="Open Sans"/>
              </a:rPr>
              <a:t>ВРП, 2023  ·  таблица 9.4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498348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923826"/>
                </a:solidFill>
                <a:latin typeface="Open Sans"/>
              </a:rPr>
              <a:t>Занятость, 2024  ·  таблица 3.6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37160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23826"/>
                </a:solidFill>
                <a:latin typeface="Open Sans"/>
              </a:rPr>
              <a:t>Как считаются секторы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17373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Первичный = сельское хозяйство + добыча.</a:t>
            </a:r>
          </a:p>
          <a:p>
            <a:pPr marL="219456" indent="-219456"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Вторичный = обработка + энергетика + водоснабжение + строительство.</a:t>
            </a:r>
          </a:p>
          <a:p>
            <a:pPr marL="219456" indent="-219456"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Третичный = 100% минус первые два — остальные услуги.</a:t>
            </a:r>
          </a:p>
          <a:p>
            <a:pPr marL="219456" indent="-219456"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Те же суммы считаются в двух разрезах: по ВРП и по занятости.</a:t>
            </a:r>
          </a:p>
          <a:p>
            <a:pPr marL="219456" indent="-219456"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Сравнение разрезов и даёт вывод: в первичном секторе доля в ВРП вдвое больше доли в занятости.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440680"/>
            <a:ext cx="720547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81818"/>
                </a:solidFill>
                <a:latin typeface="Open Sans"/>
              </a:rPr>
              <a:t>Формы собственности (табл. 12.4, 12.7):  частный сектор — 81,6% организаций и 79,9% оборота; государство и муниципалитеты — 12,9% организаций и 3,6% оборота.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scripts/overview.py → analiz/обзор_секторы.csv; Росстат, табл. 9.4, 3.6, 12.4, 12.7.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Финансовый сектор: как считает finance.py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Таблицы 20.9–20.14 сборника + объекты OSM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1851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5556"/>
                <a:gridCol w="2644444"/>
                <a:gridCol w="5068519"/>
              </a:tblGrid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Что считаем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Откуда берём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Как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Институты: организации и филиалы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табл. 20.9, части 1 и 2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значения на 2011 и 2025 гг. и кратность изменений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Вклады: всего, населения, юрлиц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табл. 20.10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по году и подписи столбца («физических» / «юридических»)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Кредиты юрлицам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табл. 20.14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ряд 2011 → 2025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Сбербанк и его доля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табл. 20.12, 20.13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вклады физлиц в рублях и валюте; доля = вклады Сбербанка / все вклады населения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Вклады на душу населения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табл. 20.10 + население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вклады ÷ население (ближайшие опубликованные годы)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Размещение: банки, банкоматы, бренды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группировка по категории, бренду и территории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5029200"/>
            <a:ext cx="11018520" cy="73152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5120640"/>
            <a:ext cx="10744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dep_p1 = rv.require(t, "20.10", year=2025, label="физических", part=1)   # 514 711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share  = 100 * sber1 / dep_p1                                            # 51,8%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89788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81818"/>
                </a:solidFill>
                <a:latin typeface="Open Sans"/>
              </a:rPr>
              <a:t>Выход: analiz/финансы_ряды.csv (ряды и кратность) и analiz/финансы_бренды.csv (топ банков).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scripts/finance.py; Росстат, раздел 20 (по данным Банка России); OpenStreetMap.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Финансовый сектор: результаты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Что показали данные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63040"/>
          <a:ext cx="36576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1952"/>
                <a:gridCol w="877824"/>
                <a:gridCol w="877824"/>
              </a:tblGrid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Институты (на начало года)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2011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2025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Кредитные организации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Филиалы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66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434840" y="1463040"/>
          <a:ext cx="7150606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6267"/>
                <a:gridCol w="1358615"/>
                <a:gridCol w="1358615"/>
                <a:gridCol w="1287109"/>
              </a:tblGrid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Деньги, млн ₽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2011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2025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×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Вклады всего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97 314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585 130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6,0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— населения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90 263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514 711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5,7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— юридических лиц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7 051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70 419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10,0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Кредиты юрлицам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74 345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219 109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2,9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61188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Вклады на душу населения: 38 627 ₽ (2011) → 245 317 ₽ (2025).</a:t>
            </a:r>
          </a:p>
          <a:p>
            <a:pPr marL="219456" indent="-219456"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Сбербанк: 266 542 млн ₽ на рублёвых счетах физлиц — 51,8% всех вкладов населения, 23-е место в РФ.</a:t>
            </a:r>
          </a:p>
          <a:p>
            <a:pPr marL="219456" indent="-219456"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Размещение (OSM): 547 объектов — 237 банков и 310 банкоматов, то есть 1 : 1,3.</a:t>
            </a:r>
          </a:p>
          <a:p>
            <a:pPr marL="219456" indent="-219456"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Топ брендов: Сбербанк 181, Совкомбанк 35, ВТБ 32, Росбанк 25, Промсвязьбанк 24.</a:t>
            </a:r>
          </a:p>
          <a:p>
            <a:pPr marL="219456" indent="-219456"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Территории: Саратов 372 объекта, Балаково 43, Энгельс 39, прочие 93.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23560"/>
            <a:ext cx="11018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923826"/>
                </a:solidFill>
                <a:latin typeface="Open Sans"/>
              </a:rPr>
              <a:t>Ограничение: таблица 20.9 считает филиалы, а не дополнительные офисы и кассы; доля Сбербанка сопоставляет его рублёвые вклады (данные банка) со всеми вкладами населения (данные Банка России).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scripts/finance.py; Росстат, табл. 20.9–20.14; OpenStreetMap.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труда: как считает labor.py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Вакансии из API + статистика Росстата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1851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5185"/>
                <a:gridCol w="2864815"/>
                <a:gridCol w="5068519"/>
              </a:tblGrid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Что считаем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Откуда берём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Как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Полнота данных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vacancies.csv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доля вакансий с зарплатой (99,8%) и с координатами (96,1%)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Распределение зарплат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vacancies.csv, поле salary_min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минимум, квартили, медиана, средняя, максимум; нули трактуются как «не указано»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Топы профессий и сфер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vacancies.csv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подсчёт частот; для каждой сферы — своя медиана зарплаты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Требования к опыту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vacancies.csv, поле experience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доли вакансий по числу требуемых лет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Концентрация работодателей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vacancies.csv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доля топ-10 и число работодателей с одной вакансией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Фактическая занятость и оплата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табл. 1.1, 4.6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занятые и средняя начисленная зарплата за 2024 г.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5029200"/>
            <a:ext cx="11018520" cy="96012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5120640"/>
            <a:ext cx="107442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sal = [float(r["salary_min"]) for r in rows if r["salary_min"].strip()]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sal = [s for s in sal if s &gt; 0]              # 0 в поле означает «не указана»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med = st.median(sal)                          # 38 000 ₽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q   = st.quantiles(sal, n=4)                  # 28 500 ... 50 000 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03504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81818"/>
                </a:solidFill>
                <a:latin typeface="Open Sans"/>
              </a:rPr>
              <a:t>Выход: analiz/вакансии_топ_профессий.csv и analiz/вакансии_по_сферам.csv (с медианами по сферам).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scripts/labor.py; API «Работа в России»; Росстат, табл. 1.1, 4.6.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труда: результаты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Спрос по вакансиям и фактическая статистика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71600"/>
            <a:ext cx="2617470" cy="10972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9047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923826"/>
                </a:solidFill>
                <a:latin typeface="Open Sans"/>
              </a:rPr>
              <a:t>4 183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1993392"/>
            <a:ext cx="252603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595959"/>
                </a:solidFill>
                <a:latin typeface="Open Sans"/>
              </a:rPr>
              <a:t>вакансии</a:t>
            </a:r>
          </a:p>
          <a:p>
            <a:pPr algn="ctr">
              <a:lnSpc>
                <a:spcPct val="95000"/>
              </a:lnSpc>
            </a:pPr>
            <a:r>
              <a:rPr sz="1100" b="0">
                <a:solidFill>
                  <a:srgbClr val="595959"/>
                </a:solidFill>
                <a:latin typeface="Open Sans"/>
              </a:rPr>
              <a:t>в выборке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7278" y="1371600"/>
            <a:ext cx="2617470" cy="10972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0430" y="149047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923826"/>
                </a:solidFill>
                <a:latin typeface="Open Sans"/>
              </a:rPr>
              <a:t>38 000 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2998" y="1993392"/>
            <a:ext cx="252603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595959"/>
                </a:solidFill>
                <a:latin typeface="Open Sans"/>
              </a:rPr>
              <a:t>медиана</a:t>
            </a:r>
          </a:p>
          <a:p>
            <a:pPr algn="ctr">
              <a:lnSpc>
                <a:spcPct val="95000"/>
              </a:lnSpc>
            </a:pPr>
            <a:r>
              <a:rPr sz="1100" b="0">
                <a:solidFill>
                  <a:srgbClr val="595959"/>
                </a:solidFill>
                <a:latin typeface="Open Sans"/>
              </a:rPr>
              <a:t>зарплаты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7628" y="1371600"/>
            <a:ext cx="2617470" cy="10972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40780" y="149047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923826"/>
                </a:solidFill>
                <a:latin typeface="Open Sans"/>
              </a:rPr>
              <a:t>45 349 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3348" y="1993392"/>
            <a:ext cx="252603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595959"/>
                </a:solidFill>
                <a:latin typeface="Open Sans"/>
              </a:rPr>
              <a:t>средняя</a:t>
            </a:r>
          </a:p>
          <a:p>
            <a:pPr algn="ctr">
              <a:lnSpc>
                <a:spcPct val="95000"/>
              </a:lnSpc>
            </a:pPr>
            <a:r>
              <a:rPr sz="1100" b="0">
                <a:solidFill>
                  <a:srgbClr val="595959"/>
                </a:solidFill>
                <a:latin typeface="Open Sans"/>
              </a:rPr>
              <a:t>предлагаемая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7978" y="1371600"/>
            <a:ext cx="2617470" cy="10972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41130" y="149047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923826"/>
                </a:solidFill>
                <a:latin typeface="Open Sans"/>
              </a:rPr>
              <a:t>58 626 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3698" y="1993392"/>
            <a:ext cx="252603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595959"/>
                </a:solidFill>
                <a:latin typeface="Open Sans"/>
              </a:rPr>
              <a:t>средняя</a:t>
            </a:r>
          </a:p>
          <a:p>
            <a:pPr algn="ctr">
              <a:lnSpc>
                <a:spcPct val="95000"/>
              </a:lnSpc>
            </a:pPr>
            <a:r>
              <a:rPr sz="1100" b="0">
                <a:solidFill>
                  <a:srgbClr val="595959"/>
                </a:solidFill>
                <a:latin typeface="Open Sans"/>
              </a:rPr>
              <a:t>фактическая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560320"/>
            <a:ext cx="11018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81818"/>
                </a:solidFill>
                <a:latin typeface="Open Sans"/>
              </a:rPr>
              <a:t>Предлагаемые зарплаты, ₽:  минимум 13 000  ·  1-й квартиль 28 500  ·  медиана 38 000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181818"/>
                </a:solidFill>
                <a:latin typeface="Open Sans"/>
              </a:rPr>
              <a:t>средняя 45 349  ·  3-й квартиль 50 000  ·  максимум 275 000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108960"/>
            <a:ext cx="11018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923826"/>
                </a:solidFill>
                <a:latin typeface="Open Sans"/>
              </a:rPr>
              <a:t>Сферы: число вакансий и медиана предлагаемой зарплаты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3456432"/>
          <a:ext cx="10577778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4074"/>
                <a:gridCol w="1212037"/>
                <a:gridCol w="1652778"/>
                <a:gridCol w="2424074"/>
                <a:gridCol w="1212037"/>
                <a:gridCol w="1652778"/>
              </a:tblGrid>
              <a:tr h="31089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Сфера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Вакансий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Медиана, ₽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Сфера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Вакансий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Медиана, ₽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Здравоохранение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588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31 134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Транспорт, логистика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213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50 000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Продажи, торговля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460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43 000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Сельское хозяйство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184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35 000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Образование, наука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439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27 093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Электроэнергетика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182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52 529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Производство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360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45 200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Рабочие специальности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170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45 000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ЖКХ, эксплуатация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235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32 000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Строительство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115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50 767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566928" y="562356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5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88,5% вакансий — на опыт от нуля до одного года; топ профессий: продавец-кассир, пекарь, дворник.</a:t>
            </a:r>
          </a:p>
          <a:p>
            <a:pPr marL="219456" indent="-219456">
              <a:spcAft>
                <a:spcPts val="5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Топ-10 работодателей дают 22,2% вакансий, при этом 476 работодателей имеют одну вакансию.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scripts/labor.py; API «Работа в России» (4 183 вакансии); Росстат, табл. 1.1, 4.6.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товаров и услуг: как считает goods.py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Объекты OSM + стоимостной разрез из статистики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1851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5185"/>
                <a:gridCol w="2975000"/>
                <a:gridCol w="4958334"/>
              </a:tblGrid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Что считаем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Откуда берём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Как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Форматы магазинов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objects_by_city.csv, shop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подсчёт по значениям supermarket / convenience / general и их доли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Торговые сети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objects_by_city.csv, brand и operator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частота брендов; доля объектов с указанной сетью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Производства по видам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objects_by_city.csv, industrial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частота видов и доля нефти и газа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Территории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objects_by_city.csv, settlement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магазины, услуги и производства по городам; доли трёх крупнейших городов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Промышленность, АПК, розница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табл. 1.1, вторая часть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отгрузка по четырём видам деятельности; сумма — это промышленность всего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Соотношение размещения и денег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оба источника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объекты сопоставляются с миллиардами рублей: размещение и масштаб — разные вещи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5029200"/>
            <a:ext cx="11018520" cy="91440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5120640"/>
            <a:ext cx="10744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manuf  = rv.require(t, "1.1", label="обрабаты- вающие производства", part=1)  # 799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mining = rv.require(t, "1.1", label="добыча  полезных  ископаемых", part=1)    # 70,4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industry = mining + manuf + energy + water                                    # 1 039,3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03504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81818"/>
                </a:solidFill>
                <a:latin typeface="Open Sans"/>
              </a:rPr>
              <a:t>Выход: analiz/объекты_по_городам.csv (52 территории) и analiz/товары_сводка.csv.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scripts/goods.py; OpenStreetMap; Росстат, табл. 1.1 (вторая часть).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товаров и услуг: результаты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Размещение объектов и денежный масштаб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17320"/>
          <a:ext cx="5120638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732"/>
                <a:gridCol w="1228953"/>
                <a:gridCol w="1228953"/>
              </a:tblGrid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Форматы магазинов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Объектов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Доля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Магазин у дома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951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60,3%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Супермаркет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621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39,4%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Общий профиль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0,3%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0" y="1417320"/>
          <a:ext cx="564184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2130"/>
                <a:gridCol w="1579717"/>
              </a:tblGrid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Производства по видам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Объектов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factory — завод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12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oil — нефть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gas — газ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9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склады, цемент, прочие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456432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923826"/>
                </a:solidFill>
                <a:latin typeface="Open Sans"/>
              </a:rPr>
              <a:t>Всего в блоке:  1 576 магазинов  ·  268 объектов услуг  ·  41 производство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93192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7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Торговые сети: Магнит 122, Пятёрочка 94, Гроздь 22; сетей 33, но бренд указан лишь у 20,7% магазинов.</a:t>
            </a:r>
          </a:p>
          <a:p>
            <a:pPr marL="219456" indent="-219456">
              <a:spcAft>
                <a:spcPts val="7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Территории: 63,5% магазинов — в Саратове, Балаково и Энгельсе; на Саратов приходится 41,5%.</a:t>
            </a:r>
          </a:p>
          <a:p>
            <a:pPr marL="219456" indent="-219456">
              <a:spcAft>
                <a:spcPts val="7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Деньги: промышленность 1 039,3 млрд ₽ (из них обработка 799), АПК 282,1 млрд ₽, розница 648,5 млрд ₽.</a:t>
            </a:r>
          </a:p>
          <a:p>
            <a:pPr marL="219456" indent="-219456">
              <a:spcAft>
                <a:spcPts val="7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46% размеченных производств — нефть и газ; адрес улицы указан только у 18,9% объектов OSM.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40680"/>
            <a:ext cx="11018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23826"/>
                </a:solidFill>
                <a:latin typeface="Open Sans"/>
              </a:rPr>
              <a:t>Главное противоречие: по объектам магазинов в 38 раз больше, чем производств, а по деньгам промышленность больше розницы в 1,6 раза. OSM описывает размещение, статистика — масштаб.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scripts/goods.py; OpenStreetMap; Росстат, табл. 1.1.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Выводы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8016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800"/>
              </a:spcAft>
            </a:pPr>
            <a:r>
              <a:rPr sz="1350">
                <a:solidFill>
                  <a:srgbClr val="181818"/>
                </a:solidFill>
                <a:latin typeface="Open Sans"/>
              </a:rPr>
              <a:t>•  Собран полный набор данных: 476 таблиц сборника, 4 183 вакансии, 2 432 объекта OSM — всё скриптами, числа в аналитике не переписаны вручную.</a:t>
            </a:r>
          </a:p>
          <a:p>
            <a:pPr marL="219456" indent="-219456">
              <a:spcAft>
                <a:spcPts val="800"/>
              </a:spcAft>
            </a:pPr>
            <a:r>
              <a:rPr sz="1350">
                <a:solidFill>
                  <a:srgbClr val="181818"/>
                </a:solidFill>
                <a:latin typeface="Open Sans"/>
              </a:rPr>
              <a:t>•  Экономика индустриально-аграрная: третичный сектор 54,1% ВРП и 66,6% занятости, реальный сектор — 31,4% ВРП.</a:t>
            </a:r>
          </a:p>
          <a:p>
            <a:pPr marL="219456" indent="-219456">
              <a:spcAft>
                <a:spcPts val="800"/>
              </a:spcAft>
            </a:pPr>
            <a:r>
              <a:rPr sz="1350">
                <a:solidFill>
                  <a:srgbClr val="181818"/>
                </a:solidFill>
                <a:latin typeface="Open Sans"/>
              </a:rPr>
              <a:t>•  Население сокращается (–5,3% с 2010 г.) при росте ВРП в 3,6 раза — рост за счёт производительности.</a:t>
            </a:r>
          </a:p>
          <a:p>
            <a:pPr marL="219456" indent="-219456">
              <a:spcAft>
                <a:spcPts val="800"/>
              </a:spcAft>
            </a:pPr>
            <a:r>
              <a:rPr sz="1350">
                <a:solidFill>
                  <a:srgbClr val="181818"/>
                </a:solidFill>
                <a:latin typeface="Open Sans"/>
              </a:rPr>
              <a:t>•  Финансовый сектор: сеть сжалась в 22 раза (66 → 3 филиала), вклады выросли в 6 раз — до 585,1 млрд ₽; 51,8% вкладов населения — в Сбербанке.</a:t>
            </a:r>
          </a:p>
          <a:p>
            <a:pPr marL="219456" indent="-219456">
              <a:spcAft>
                <a:spcPts val="800"/>
              </a:spcAft>
            </a:pPr>
            <a:r>
              <a:rPr sz="1350">
                <a:solidFill>
                  <a:srgbClr val="181818"/>
                </a:solidFill>
                <a:latin typeface="Open Sans"/>
              </a:rPr>
              <a:t>•  Рынок труда: медиана предлагаемой зарплаты 38 000 ₽ против 58 626 ₽ средней фактической; самый высокий спрос — в сферах с самой низкой оплатой.</a:t>
            </a:r>
          </a:p>
          <a:p>
            <a:pPr marL="219456" indent="-219456">
              <a:spcAft>
                <a:spcPts val="800"/>
              </a:spcAft>
            </a:pPr>
            <a:r>
              <a:rPr sz="1350">
                <a:solidFill>
                  <a:srgbClr val="181818"/>
                </a:solidFill>
                <a:latin typeface="Open Sans"/>
              </a:rPr>
              <a:t>•  Рынок товаров и услуг: 63,5% магазинов в трёх городах; промышленность по деньгам больше розницы в 1,6 раза, хотя по числу объектов картина обратная.</a:t>
            </a:r>
          </a:p>
          <a:p>
            <a:pPr marL="219456" indent="-219456">
              <a:spcAft>
                <a:spcPts val="800"/>
              </a:spcAft>
            </a:pPr>
            <a:r>
              <a:rPr sz="1350">
                <a:solidFill>
                  <a:srgbClr val="181818"/>
                </a:solidFill>
                <a:latin typeface="Open Sans"/>
              </a:rPr>
              <a:t>•  Ограничения: выборка вакансий 52,7% и смещена к ключевым словам; OSM неполон по промышленным объектам; показатели в текущих ценах.</a:t>
            </a:r>
          </a:p>
          <a:p>
            <a:pPr marL="219456" indent="-219456">
              <a:spcAft>
                <a:spcPts val="800"/>
              </a:spcAft>
            </a:pPr>
            <a:r>
              <a:rPr sz="1350">
                <a:solidFill>
                  <a:srgbClr val="181818"/>
                </a:solidFill>
                <a:latin typeface="Open Sans"/>
              </a:rPr>
              <a:t>•  Развитие: второй источник вакансий, снятие смещения выборки, дефляция рядов, карта объектов по координатам.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ПбГУ">
      <a:dk1>
        <a:srgbClr val="181818"/>
      </a:dk1>
      <a:lt1>
        <a:sysClr val="window" lastClr="FFFFFF"/>
      </a:lt1>
      <a:dk2>
        <a:srgbClr val="632423"/>
      </a:dk2>
      <a:lt2>
        <a:srgbClr val="FBF9F7"/>
      </a:lt2>
      <a:accent1>
        <a:srgbClr val="4F81BD"/>
      </a:accent1>
      <a:accent2>
        <a:srgbClr val="C0504D"/>
      </a:accent2>
      <a:accent3>
        <a:srgbClr val="923826"/>
      </a:accent3>
      <a:accent4>
        <a:srgbClr val="8064A2"/>
      </a:accent4>
      <a:accent5>
        <a:srgbClr val="8FAADC"/>
      </a:accent5>
      <a:accent6>
        <a:srgbClr val="AE6464"/>
      </a:accent6>
      <a:hlink>
        <a:srgbClr val="F2F2F2"/>
      </a:hlink>
      <a:folHlink>
        <a:srgbClr val="0070C0"/>
      </a:folHlink>
    </a:clrScheme>
    <a:fontScheme name="СПбГУ">
      <a:majorFont>
        <a:latin typeface="Open Sans Extrabold"/>
        <a:ea typeface=""/>
        <a:cs typeface=""/>
      </a:majorFont>
      <a:minorFont>
        <a:latin typeface="Open Sans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CD8C519613280949AA22B76DC3D9D7B2" ma:contentTypeVersion="17" ma:contentTypeDescription="Создание документа." ma:contentTypeScope="" ma:versionID="c1aee2efb7f4004aed17619c1a5733c5">
  <xsd:schema xmlns:xsd="http://www.w3.org/2001/XMLSchema" xmlns:xs="http://www.w3.org/2001/XMLSchema" xmlns:p="http://schemas.microsoft.com/office/2006/metadata/properties" xmlns:ns1="http://schemas.microsoft.com/sharepoint/v3" xmlns:ns2="9a63fdcb-41de-41b7-a29c-51f72461a67b" xmlns:ns3="02abcde4-0d41-4d92-9ad7-003839eabdeb" targetNamespace="http://schemas.microsoft.com/office/2006/metadata/properties" ma:root="true" ma:fieldsID="3d5820956cb7eaded5206240577e0de0" ns1:_="" ns2:_="" ns3:_="">
    <xsd:import namespace="http://schemas.microsoft.com/sharepoint/v3"/>
    <xsd:import namespace="9a63fdcb-41de-41b7-a29c-51f72461a67b"/>
    <xsd:import namespace="02abcde4-0d41-4d92-9ad7-003839eabde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1:_ip_UnifiedCompliancePolicyProperties" minOccurs="0"/>
                <xsd:element ref="ns1:_ip_UnifiedCompliancePolicyUIAction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2" nillable="true" ma:displayName="Свойства единой политики соответствия требованиям" ma:hidden="true" ma:internalName="_ip_UnifiedCompliancePolicyProperties">
      <xsd:simpleType>
        <xsd:restriction base="dms:Note"/>
      </xsd:simpleType>
    </xsd:element>
    <xsd:element name="_ip_UnifiedCompliancePolicyUIAction" ma:index="13" nillable="true" ma:displayName="Действие с пользовательским интерфейсом в рамках единой политики соответствия требованиям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a63fdcb-41de-41b7-a29c-51f72461a67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Теги изображений" ma:readOnly="false" ma:fieldId="{5cf76f15-5ced-4ddc-b409-7134ff3c332f}" ma:taxonomyMulti="true" ma:sspId="3dac30f7-4b6a-4d0c-a073-8dcd7cc3cb6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abcde4-0d41-4d92-9ad7-003839eabdeb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e50e6830-2c83-4f36-8696-426a14030bf5}" ma:internalName="TaxCatchAll" ma:showField="CatchAllData" ma:web="02abcde4-0d41-4d92-9ad7-003839eabde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TaxCatchAll xmlns="02abcde4-0d41-4d92-9ad7-003839eabdeb" xsi:nil="true"/>
    <lcf76f155ced4ddcb4097134ff3c332f xmlns="9a63fdcb-41de-41b7-a29c-51f72461a67b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0AE8BD70-FE7F-4E2E-8A0C-B56C29E7533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D7F0394-DA30-41D1-BA79-55D90E960F0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9a63fdcb-41de-41b7-a29c-51f72461a67b"/>
    <ds:schemaRef ds:uri="02abcde4-0d41-4d92-9ad7-003839eabde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B233416-0D41-4853-A815-5627BA43D3C0}">
  <ds:schemaRefs>
    <ds:schemaRef ds:uri="http://purl.org/dc/terms/"/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9a63fdcb-41de-41b7-a29c-51f72461a67b"/>
    <ds:schemaRef ds:uri="02abcde4-0d41-4d92-9ad7-003839eabdeb"/>
    <ds:schemaRef ds:uri="http://schemas.microsoft.com/sharepoint/v3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10867</TotalTime>
  <Words>0</Words>
  <Application>Microsoft Office PowerPoint</Application>
  <PresentationFormat>Широкоэкранный</PresentationFormat>
  <Paragraphs>0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4" baseType="lpstr">
      <vt:lpstr>Arial</vt:lpstr>
      <vt:lpstr>Calibri</vt:lpstr>
      <vt:lpstr>Open Sans</vt:lpstr>
      <vt:lpstr>Open Sans Extrabold</vt:lpstr>
      <vt:lpstr>Open Sans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Надежда Лапшина</dc:creator>
  <cp:lastModifiedBy>Князев Егор Юрьевич</cp:lastModifiedBy>
  <cp:revision>612</cp:revision>
  <dcterms:created xsi:type="dcterms:W3CDTF">2020-09-23T09:03:25Z</dcterms:created>
  <dcterms:modified xsi:type="dcterms:W3CDTF">2026-05-15T16:41:13Z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0x010100CD8C519613280949AA22B76DC3D9D7B2</vt:lpwstr>
  </property>
  <property fmtid="{D5CDD505-2E9C-101B-9397-08002B2CF9AE}" pid="3" name="MediaServiceImageTags">
    <vt:lpwstr/>
  </property>
</Properties>
</file>