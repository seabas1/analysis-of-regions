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11"/>
    <p:sldId id="257" r:id="rId12"/>
    <p:sldId id="258" r:id="rId10"/>
    <p:sldId id="259" r:id="rId9"/>
    <p:sldId id="260" r:id="rId8"/>
    <p:sldId id="261" r:id="rId7"/>
    <p:sldId id="262" r:id="rId6"/>
    <p:sldId id="263" r:id="rId5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9" userDrawn="1">
          <p15:clr>
            <a:srgbClr val="A4A3A4"/>
          </p15:clr>
        </p15:guide>
        <p15:guide id="2" pos="41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3826"/>
    <a:srgbClr val="8FAADC"/>
    <a:srgbClr val="66A0D0"/>
    <a:srgbClr val="8C6E8E"/>
    <a:srgbClr val="AE6464"/>
    <a:srgbClr val="F8F1F1"/>
    <a:srgbClr val="D3B25F"/>
    <a:srgbClr val="C2AA46"/>
    <a:srgbClr val="990000"/>
    <a:srgbClr val="C2A1C3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43" autoAdjust="0"/>
    <p:restoredTop sz="94652" autoAdjust="0"/>
  </p:normalViewPr>
  <p:slideViewPr>
    <p:cSldViewPr snapToGrid="0">
      <p:cViewPr varScale="1">
        <p:scale>
          <a:sx n="79" d="100"/>
          <a:sy n="79" d="100"/>
        </p:scale>
        <p:origin x="312" y="120"/>
      </p:cViewPr>
      <p:guideLst>
        <p:guide orient="horz" pos="2409"/>
        <p:guide pos="41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6" d="100"/>
          <a:sy n="126" d="100"/>
        </p:scale>
        <p:origin x="-4908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ВРП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17.6</c:v>
                </c:pt>
                <c:pt idx="1">
                  <c:v>28.3</c:v>
                </c:pt>
                <c:pt idx="2">
                  <c:v>54.1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Занятость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</c:v>
                </c:pt>
                <c:pt idx="1">
                  <c:v>24.8</c:v>
                </c:pt>
                <c:pt idx="2">
                  <c:v>66.6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D93DD-A479-4F6C-AF5E-6152D069177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27F79-BC16-4DE0-8BA2-D3AF1D768C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4715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CDAC6F-BB1F-4063-BD4A-C26C60CE3A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60B39-B557-40BF-9ECA-089F8F8977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745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анализ экономики Саратовской области. Работа инженерная: данные собраны скриптами из открытых источников, экономические выводы построены на выверенных числах. Три блока: финансовый сектор, рынок труда, рынок товаров и услуг.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Откуда взята общая сводка: это официальный сборник Росстата, один источник на все показатели региона. Из 823 таблиц автоматически отобраны 397 со строкой региона — это гарантирует, что числа не переписаны вручную.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показывать цифры, поясняю два термина. ВРП — это добавленная стоимость, созданная в регионе, а не бюджет и не оборот. Три сектора — это способ разложить экономику по стадиям: добыча, переработка, услуги. Мы считаем их в двух разрезах и сравниваем.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Устройство проекта: три этапа — сбор, парсинг, анализ. Оркестратора нет, запуск вручную по порядку. Этапы общаются только через файлы, поэтому каждый перезапускается независимо.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Ключевые цифры региона. Главное наблюдение: население падает, а экономика растёт — значит, рост обеспечивается производительностью, а не количеством работников.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Разложение экономики по секторам в двух разрезах и по формам собственности. Ключевая цифра: доля первичного сектора в ВРП вдвое больше его доли в занятости.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источника блока: статистика Банка России даёт институты и денежные объёмы, OpenStreetMap — физическое размещение объектов.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скрипт блока: откуда берёт данные, что именно делает и что получается на выходе. Отдельно объясняю, почему фильтрация идёт по полигону границы.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— что за данные: два вида, временные ряды и пространственные объекты, с указанием файла и колонок. Затем сами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 блока: сеть сжимается, а деньги растут — обслуживание уходит в дистанционные каналы. И обязательно проговариваем ограничение про филиалы и доп. офисы.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источника блока: микроданные о вакансиях дают спрос, статистика — фактическое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по скриптам: откуда берём, что делает, что получается. Главное техническое решение — обход лимита API через разбиение по ключевым словам и дедупликация через словарь по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данных: файл, число строк, колонки, полнота полей. Затем распределение зарплат, топы и требования к опыту.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Самое интересное наблюдение блока — расхождение между спросом и оплатой в образовании и медицине. Плюс сверка структуры спроса с образцом по другому региону.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блок. Теги — из образца, чтобы результаты были сопоставимы с Белгородской областью.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по скриптам для третьего блока. Отдельно называю ограничения OSM — их спросят.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данных блока и цифры: структура торговли по форматам, состав производств, денежные объёмы.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 блока: пространственные и стоимостные выводы нельзя делать из одного источника. Цифры OSM и Росстата расходятся принципиально, и это надо объяснять, а не сглаживать.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выводов: по одному на каждый блок и на общий обзор.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8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396784"/>
            <a:ext cx="3987797" cy="114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267304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04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7999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64686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782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928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44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32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2000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19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3" name="Группа 52"/>
          <p:cNvGrpSpPr/>
          <p:nvPr userDrawn="1"/>
        </p:nvGrpSpPr>
        <p:grpSpPr>
          <a:xfrm>
            <a:off x="9143115" y="0"/>
            <a:ext cx="2527884" cy="1474000"/>
            <a:chOff x="9225933" y="44624"/>
            <a:chExt cx="2527884" cy="1474000"/>
          </a:xfrm>
        </p:grpSpPr>
        <p:cxnSp>
          <p:nvCxnSpPr>
            <p:cNvPr id="55" name="Прямая соединительная линия 54"/>
            <p:cNvCxnSpPr/>
            <p:nvPr userDrawn="1"/>
          </p:nvCxnSpPr>
          <p:spPr>
            <a:xfrm flipV="1">
              <a:off x="922593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Прямая соединительная линия 56"/>
            <p:cNvCxnSpPr/>
            <p:nvPr userDrawn="1"/>
          </p:nvCxnSpPr>
          <p:spPr>
            <a:xfrm flipV="1">
              <a:off x="934050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Прямая соединительная линия 57"/>
            <p:cNvCxnSpPr/>
            <p:nvPr userDrawn="1"/>
          </p:nvCxnSpPr>
          <p:spPr>
            <a:xfrm flipV="1">
              <a:off x="944770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Прямая соединительная линия 58"/>
            <p:cNvCxnSpPr/>
            <p:nvPr userDrawn="1"/>
          </p:nvCxnSpPr>
          <p:spPr>
            <a:xfrm flipV="1">
              <a:off x="956227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Прямая соединительная линия 59"/>
            <p:cNvCxnSpPr/>
            <p:nvPr userDrawn="1"/>
          </p:nvCxnSpPr>
          <p:spPr>
            <a:xfrm flipV="1">
              <a:off x="967753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Прямая соединительная линия 60"/>
            <p:cNvCxnSpPr/>
            <p:nvPr userDrawn="1"/>
          </p:nvCxnSpPr>
          <p:spPr>
            <a:xfrm flipV="1">
              <a:off x="9792105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Прямая соединительная линия 61"/>
            <p:cNvCxnSpPr/>
            <p:nvPr userDrawn="1"/>
          </p:nvCxnSpPr>
          <p:spPr>
            <a:xfrm flipV="1">
              <a:off x="989931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Прямая соединительная линия 62"/>
            <p:cNvCxnSpPr/>
            <p:nvPr userDrawn="1"/>
          </p:nvCxnSpPr>
          <p:spPr>
            <a:xfrm flipV="1">
              <a:off x="10013880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Прямая соединительная линия 63"/>
            <p:cNvCxnSpPr/>
            <p:nvPr userDrawn="1"/>
          </p:nvCxnSpPr>
          <p:spPr>
            <a:xfrm flipV="1">
              <a:off x="10132589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Прямая соединительная линия 64"/>
            <p:cNvCxnSpPr/>
            <p:nvPr userDrawn="1"/>
          </p:nvCxnSpPr>
          <p:spPr>
            <a:xfrm flipV="1">
              <a:off x="1024715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Прямая соединительная линия 65"/>
            <p:cNvCxnSpPr/>
            <p:nvPr userDrawn="1"/>
          </p:nvCxnSpPr>
          <p:spPr>
            <a:xfrm flipV="1">
              <a:off x="10354364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Прямая соединительная линия 66"/>
            <p:cNvCxnSpPr/>
            <p:nvPr userDrawn="1"/>
          </p:nvCxnSpPr>
          <p:spPr>
            <a:xfrm flipV="1">
              <a:off x="1046893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Прямая соединительная линия 67"/>
            <p:cNvCxnSpPr/>
            <p:nvPr userDrawn="1"/>
          </p:nvCxnSpPr>
          <p:spPr>
            <a:xfrm flipV="1">
              <a:off x="1058419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Прямая соединительная линия 68"/>
            <p:cNvCxnSpPr/>
            <p:nvPr userDrawn="1"/>
          </p:nvCxnSpPr>
          <p:spPr>
            <a:xfrm flipV="1">
              <a:off x="1069876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Прямая соединительная линия 69"/>
            <p:cNvCxnSpPr/>
            <p:nvPr userDrawn="1"/>
          </p:nvCxnSpPr>
          <p:spPr>
            <a:xfrm flipV="1">
              <a:off x="1080596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Прямая соединительная линия 70"/>
            <p:cNvCxnSpPr/>
            <p:nvPr userDrawn="1"/>
          </p:nvCxnSpPr>
          <p:spPr>
            <a:xfrm flipV="1">
              <a:off x="1092053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62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1450" y="1165860"/>
            <a:ext cx="11852910" cy="55149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lnSpc>
                <a:spcPct val="100000"/>
              </a:lnSpc>
              <a:spcBef>
                <a:spcPts val="600"/>
              </a:spcBef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2992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+ ненумер.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88720"/>
            <a:ext cx="6086475" cy="548639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426329" y="1183006"/>
            <a:ext cx="5580886" cy="5492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32289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нумерованный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48715"/>
            <a:ext cx="11835765" cy="548640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800100" indent="-342900">
              <a:lnSpc>
                <a:spcPct val="100000"/>
              </a:lnSpc>
              <a:buFont typeface="+mj-lt"/>
              <a:buAutoNum type="arabicPeriod"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257300" indent="-342900">
              <a:lnSpc>
                <a:spcPct val="100000"/>
              </a:lnSpc>
              <a:buFont typeface="+mj-lt"/>
              <a:buAutoNum type="arabicPeriod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7145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1717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78974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сто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77290"/>
            <a:ext cx="11812905" cy="5486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92820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+ текст + рисун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0"/>
            <a:ext cx="7008813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38687"/>
            <a:ext cx="4831871" cy="551357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4840605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869188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исунок +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1"/>
            <a:ext cx="12192000" cy="57035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8279" y="5852160"/>
            <a:ext cx="11886086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8429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лев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6072" y="1786243"/>
            <a:ext cx="5242849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831" y="554439"/>
            <a:ext cx="526434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07976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1532" y="1786243"/>
            <a:ext cx="5681932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531" y="554439"/>
            <a:ext cx="499832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71101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13339"/>
            <a:ext cx="1220346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2560320"/>
            <a:ext cx="3933287" cy="4000499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2830182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967895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213339"/>
            <a:ext cx="762254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1213338"/>
            <a:ext cx="3933287" cy="5331235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1483200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499547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иаграмма + текст спр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8922" y="1223010"/>
            <a:ext cx="5575433" cy="5372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Диаграмма 7"/>
          <p:cNvSpPr>
            <a:spLocks noGrp="1"/>
          </p:cNvSpPr>
          <p:nvPr>
            <p:ph type="chart" sz="quarter" idx="11"/>
          </p:nvPr>
        </p:nvSpPr>
        <p:spPr>
          <a:xfrm>
            <a:off x="171451" y="1229042"/>
            <a:ext cx="6052184" cy="53546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961370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395446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quot;Дорожная карта&quo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Соединительная линия уступом 5"/>
          <p:cNvCxnSpPr/>
          <p:nvPr userDrawn="1"/>
        </p:nvCxnSpPr>
        <p:spPr>
          <a:xfrm>
            <a:off x="165735" y="1417320"/>
            <a:ext cx="11755755" cy="1194435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8579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2711624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6308600" y="1277607"/>
            <a:ext cx="5612889" cy="5626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5879975" y="2780929"/>
            <a:ext cx="3418329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9479220" y="2780929"/>
            <a:ext cx="2442270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1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348577" y="4821687"/>
            <a:ext cx="11612917" cy="14939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31460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439165" y="2249512"/>
            <a:ext cx="5108575" cy="49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Прямоугольник 3"/>
          <p:cNvSpPr/>
          <p:nvPr userDrawn="1"/>
        </p:nvSpPr>
        <p:spPr>
          <a:xfrm>
            <a:off x="439165" y="1354812"/>
            <a:ext cx="21130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Контакты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7126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Relationship Id="rId2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D3705242-639C-4816-B6E8-01005FE983B9}"/>
              </a:ext>
            </a:extLst>
          </p:cNvPr>
          <p:cNvCxnSpPr>
            <a:cxnSpLocks/>
          </p:cNvCxnSpPr>
          <p:nvPr userDrawn="1"/>
        </p:nvCxnSpPr>
        <p:spPr>
          <a:xfrm>
            <a:off x="0" y="163887"/>
            <a:ext cx="10548046" cy="0"/>
          </a:xfrm>
          <a:prstGeom prst="line">
            <a:avLst/>
          </a:prstGeom>
          <a:ln w="9525">
            <a:solidFill>
              <a:srgbClr val="9238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813" y="-309257"/>
            <a:ext cx="2044945" cy="110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490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2" r:id="rId2"/>
    <p:sldLayoutId id="2147483651" r:id="rId3"/>
    <p:sldLayoutId id="2147483673" r:id="rId4"/>
    <p:sldLayoutId id="2147483661" r:id="rId5"/>
    <p:sldLayoutId id="2147483674" r:id="rId6"/>
    <p:sldLayoutId id="2147483660" r:id="rId7"/>
    <p:sldLayoutId id="2147483675" r:id="rId8"/>
    <p:sldLayoutId id="2147483654" r:id="rId9"/>
    <p:sldLayoutId id="2147483664" r:id="rId10"/>
    <p:sldLayoutId id="2147483658" r:id="rId11"/>
    <p:sldLayoutId id="2147483655" r:id="rId12"/>
    <p:sldLayoutId id="2147483657" r:id="rId13"/>
    <p:sldLayoutId id="2147483663" r:id="rId14"/>
    <p:sldLayoutId id="2147483665" r:id="rId15"/>
    <p:sldLayoutId id="2147483670" r:id="rId16"/>
    <p:sldLayoutId id="2147483667" r:id="rId17"/>
    <p:sldLayoutId id="2147483677" r:id="rId18"/>
    <p:sldLayoutId id="2147483668" r:id="rId19"/>
    <p:sldLayoutId id="2147483669" r:id="rId20"/>
    <p:sldLayoutId id="2147483671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0" y="1783080"/>
            <a:ext cx="3611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Факультет прикладной математики — процессов управления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81328" y="3977639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Саратовская область:</a:t>
            </a:r>
          </a:p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сбор данных, парсинг,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50292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Open Sans"/>
              </a:rPr>
              <a:t>Финансовый сектор  ·  Рынок труда  ·  Рынок товаров и услуг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3093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Санкт-Петербург,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обзор · Источники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Откуда взяты показатели по региону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185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5926"/>
                <a:gridCol w="3305556"/>
                <a:gridCol w="4187037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Источник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Что это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Что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Росстат, сборник «Регионы России. Социально-экономические показатели — 2025»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22 раздела, 823 таблицы; официальная публикация по всем субъектам РФ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Основные показатели, население, труд, ВРП, инвестиции, организации, банковский сектор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Банк России (в составе того же сборника)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Раздел 20, таблицы 20.9–20.17 — публикация Банка России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Кредитные организации и филиалы, вклады, кредиты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918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Из 823 таблиц сборника скриптом отобраны 397, содержащих строку «Саратовская область».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749039"/>
            <a:ext cx="11018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Использованные таблицы:  1.1 — основные показатели;  2.1, 2.3 — население;  3.3–3.7 — занятость и формы собственности;  4.6 — зарплата;  9.1–9.4 — ВРП и его структура;  10.1 — инвестиции;  12.4, 12.7 — организации и оборот;  20.9–20.17 — банковский сектор.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2920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Глубина данных: 2010–2025 гг. Основные показатели — 2024 г., ВРП — 2023 г. (последний опубликованный, публикуется с лагом в один год).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rosstat.gov.ru/folder/210/document/13204; дата выгрузки — 06.10.2026.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Понятия: ВРП и три сектора экономики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Термины, на которых строится весь анализ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23826"/>
                </a:solidFill>
                <a:latin typeface="Open Sans"/>
              </a:rPr>
              <a:t>ВРП — валовой региональный продукт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3949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Стоимость всех товаров и услуг, созданных в регионе за год, в основных ценах. Это региональный аналог ВВП: он показывает не доходы бюджета и не объём продаж, а добавленную стоимость, произведённую на территории. Публикуется с лагом в один год — поэтому последние данные за 2023 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5760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23826"/>
                </a:solidFill>
                <a:latin typeface="Open Sans"/>
              </a:rPr>
              <a:t>Три сектора экономики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023360"/>
          <a:ext cx="5394959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6891"/>
                <a:gridCol w="4208068"/>
              </a:tblGrid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Сектор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Что входит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Первичный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добыча полезных ископаемых, сельское и лесное хозяйство, рыболовство — то, что берут у природы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Вторичный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обрабатывающие производства, энергетика, водоснабжение, строительство — переработка сырья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Третичный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торговля, транспорт, связь, финансы, недвижимость, образование, здравоохранение, управление — услуги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1417320"/>
            <a:ext cx="5321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23826"/>
                </a:solidFill>
                <a:latin typeface="Open Sans"/>
              </a:rPr>
              <a:t>Как считаем 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8308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Первичный = сельское хозяйство + добыча полезных ископаемых.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Вторичный = обрабатывающие производства + энергетика + водоснабжение + строительство.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Третичный = всё остальное: 100% минус первичный и вторичный.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Считаем в двух разрезах: по ВРП (вклад в экономику) и по занятости (где работают люди).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Сравнение этих двух разрезов и даёт вывод о производительности сектора.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Определения — по методологическим пояснениям сборника Росстата; агрегация по секторам выполнена нами.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Как устроен сбор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Три этапа, одиннадцать скриптов, запуск по порядку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18519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963"/>
                <a:gridCol w="3966667"/>
                <a:gridCol w="2424074"/>
                <a:gridCol w="2864815"/>
              </a:tblGrid>
              <a:tr h="56692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Этап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Скрипты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Вход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Выход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1. Сбор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download_rosstat, get_region_boundary, download_osm_pbf, parse_vacancies_trudvsem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сайт Росстата, Nominatim, Geofabrik, API вакансий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сборник Росстата, полигон границы, PBF 775 МБ, 4 183 вакансии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2. Парсинг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rosstat_docx_to_text, rosstat_extract_region, parse_osm_objects, assign_cities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скачанные файлы и выгрузки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397 таблиц сборника, 2 432 объекта OSM с привязкой к городам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3. Анализ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aggregate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все собранные файлы: объекты OSM, объекты по городам, вакансии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сводные таблицы: топы профессий, зарплаты, объекты по городам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114800"/>
            <a:ext cx="11018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Этапы связаны только через файлы: скрипт анализа не знает, как получены данные, а скрипт сбора — что с ними будет дальше. Поэтому любой этап перезапускается отдельно, а повторный запуск использует уже скачанные файлы.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21208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Оформление презентации — вне пайплайна: она собирается из готовых сводных таблиц.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Все скрипты лежат в папке scripts/, порядок запуска — в scripts/README.md.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обзор: Саратовская область в цифрах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2024 г., если не указано иное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63040"/>
            <a:ext cx="2617470" cy="1143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191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923826"/>
                </a:solidFill>
                <a:latin typeface="Open Sans"/>
              </a:rPr>
              <a:t>101,2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483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тыс. км²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площадь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278" y="1463040"/>
            <a:ext cx="2617470" cy="1143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158191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923826"/>
                </a:solidFill>
                <a:latin typeface="Open Sans"/>
              </a:rPr>
              <a:t>2 385,2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0430" y="208483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население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1463040"/>
            <a:ext cx="2617470" cy="1143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0780" y="158191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923826"/>
                </a:solidFill>
                <a:latin typeface="Open Sans"/>
              </a:rPr>
              <a:t>1 147,9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0780" y="208483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занятых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7978" y="1463040"/>
            <a:ext cx="2617470" cy="1143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1130" y="158191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923826"/>
                </a:solidFill>
                <a:latin typeface="Open Sans"/>
              </a:rPr>
              <a:t>1 345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1130" y="208483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млрд ₽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ВРП, 2023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88920"/>
            <a:ext cx="2617470" cy="1143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1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923826"/>
                </a:solidFill>
                <a:latin typeface="Open Sans"/>
              </a:rPr>
              <a:t>561 623,7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₽ ВРП на душу, 2023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7278" y="2788920"/>
            <a:ext cx="2617470" cy="1143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40430" y="2907791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923826"/>
                </a:solidFill>
                <a:latin typeface="Open Sans"/>
              </a:rPr>
              <a:t>58 626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0430" y="341071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₽ средняя зарплата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7628" y="2788920"/>
            <a:ext cx="2617470" cy="1143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0780" y="2907791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923826"/>
                </a:solidFill>
                <a:latin typeface="Open Sans"/>
              </a:rPr>
              <a:t>316,7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0780" y="341071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млрд ₽ инвестиции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7978" y="2788920"/>
            <a:ext cx="2617470" cy="1143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41130" y="2907791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923826"/>
                </a:solidFill>
                <a:latin typeface="Open Sans"/>
              </a:rPr>
              <a:t>328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1130" y="341071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муниципальных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образований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20624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81818"/>
                </a:solidFill>
                <a:latin typeface="Open Sans"/>
              </a:rPr>
              <a:t>•  Городское население — 77,0%; в составе области 37 районов и 4 городских округа.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81818"/>
                </a:solidFill>
                <a:latin typeface="Open Sans"/>
              </a:rPr>
              <a:t>•  Население сократилось на 5,3% с 2010 г., при этом ВРП вырос в 3,6 раза — рост идёт за счёт производительности.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81818"/>
                </a:solidFill>
                <a:latin typeface="Open Sans"/>
              </a:rPr>
              <a:t>•  Индекс физического объёма ВРП в 2023 г. — 104,6% к предыдущему году.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Росстат, «Регионы России — 2025», табл. 1.1, 1.6, 1.7, 2.1, 2.3, 9.1, 9.3.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обзор: структура экономики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Те же данные в двух разрезах — секторы и формы собственности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63040"/>
          <a:ext cx="3566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06240" y="1463040"/>
          <a:ext cx="3566160" cy="37490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25780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ВРП,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525780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Занятость,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6002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81818"/>
                </a:solidFill>
                <a:latin typeface="Open Sans"/>
              </a:rPr>
              <a:t>Секторы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81818"/>
                </a:solidFill>
                <a:latin typeface="Open Sans"/>
              </a:rPr>
              <a:t>первичный 17,6% ВРП против 8,6% занятости — производительность в реальном секторе выше средней.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81818"/>
                </a:solidFill>
                <a:latin typeface="Open San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81818"/>
                </a:solidFill>
                <a:latin typeface="Open Sans"/>
              </a:rPr>
              <a:t>Формы собственности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81818"/>
                </a:solidFill>
                <a:latin typeface="Open Sans"/>
              </a:rPr>
              <a:t>частный сектор — 81,6% организаций и 79,9% оборота; государство и муниципалитеты — 12,9% организаций и 3,6% оборота.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Росстат, табл. 9.4 (структура ВРП), 3.5 и 3.6 (занятость), 12.4 и 12.7 (формы собственности).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 · Источники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Два независимых источника: институты и деньги — статистика, размещение — OSM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08760"/>
          <a:ext cx="110185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815"/>
                <a:gridCol w="5729630"/>
                <a:gridCol w="242407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Open Sans"/>
                        </a:rPr>
                        <a:t>Источник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Open Sans"/>
                        </a:rPr>
                        <a:t>Что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Open Sans"/>
                        </a:rPr>
                        <a:t>Зачем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Банк России (раздел 20 сборника Росстата)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20.9 организации и филиалы; 20.10 вклады; 20.12–20.13 вклады в Сбербанке; 20.14, 20.17 кредиты; 20.15 жилищные кредиты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Институты и денежные объёмы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OpenStreetMap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amenity=bank, amenity=atm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Физическое размещение объектов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0896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Источники дополняют друг друга: статистика даёт институты и деньги, OSM — размещение объектов.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118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Теги OSM взяты из образца (amenity=bank, amenity=atm) — методика сопоставима между регионами.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Показатели банковского сектора — из публикации Банка России в составе сборника Росстата (табл. 20.9–20.17).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Росстат, «Регионы России — 2025», раздел 20; OpenStreetMap.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 · Парсинг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Какой скрипт что берёт и что делает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444"/>
                <a:gridCol w="1542592"/>
                <a:gridCol w="4187037"/>
                <a:gridCol w="2644444"/>
              </a:tblGrid>
              <a:tr h="41148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Скрипт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Откуда берёт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Что делает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Результат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  <a:p>
                      <a:r>
                        <a:t>rosstat_docx_to_text</a:t>
                      </a:r>
                    </a:p>
                    <a:p>
                      <a: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Сайт Росстата (.rar с 22 разделами .docx)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Скачивает сборник, переводит 22 раздела в текст, ищет строку «Саратовская область» во всех таблицах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397 таблиц, из них 9 банковских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get_region_boundary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Nominatim (OpenStreetMap)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Запрашивает полигон административной границы области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8 307 точек контура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Geofabrik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Скачивает выгрузку Приволжского федерального округа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PBF 775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parse_osm_objects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PBF + полигон границы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Обходит 112 млн узлов и 11 млн линий, отбирает объекты по тегам и проверяет «точка внутри полигона» (numpy)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47 658 кандидатов → 547 банков и банкоматов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assign_cities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Для каждого объекта ищет ближайший из 27 городов области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колонка settlement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34924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Фильтр идёт по полигону границы, а не по bbox: прямоугольник захватывает пять соседних регионов и Казахстан.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Скрипты: download_rosstat, rosstat_docx_to_text, rosstat_extract_region, get_region_boundary, download_osm_pbf, parse_osm_objects, assign_cities.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 ·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за данные и что в них видно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Описание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3200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Ряды Банка России: 9 таблиц сборника, значения на начало года, 2011–2025.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Объекты размещения: 547 записей, отобранных из 2 432 объектов OSM по тегам bank и atm.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Файл data/osm/objects.csv — 14 колонок: тип, id, категория, название, координаты, адрес, бренд, теги.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Одна строка = один объект в одной категории.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977639" y="1737360"/>
          <a:ext cx="36576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952"/>
                <a:gridCol w="877824"/>
                <a:gridCol w="877824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Институты (на начало года)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Кредитные организации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Филиалы в регионе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66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1737360"/>
          <a:ext cx="376732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941832"/>
                <a:gridCol w="941832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Деньги, млн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Вклады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97 314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585 130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—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90 263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514 711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— юридических 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7 051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70 419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 (руб.)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74 345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219 109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448056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Объекты размещения (OpenStreetMap): 547, из них 237 банков и 310 банкоматов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92040"/>
            <a:ext cx="11018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Топ брендов по числу объектов:  Сбербанк — 181   ·   Совкомбанк — 35   ·   ВТБ — 32   ·   Росбанк — 25   ·   Промсвязьбанк — 24   ·   Газпромбанк — 21   ·   Альфа-Банк —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77840"/>
            <a:ext cx="11018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Размещение по территории:  Саратов — 372 объекта   ·   Балаково — 43   ·   Энгельс — 39   ·   прочие — 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Росстат, табл. 20.9–20.17 (по данным Банка России); OpenStreetMap, октябрь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 · 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из этих данных следует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>
                <a:solidFill>
                  <a:srgbClr val="181818"/>
                </a:solidFill>
                <a:latin typeface="Open Sans"/>
              </a:rPr>
              <a:t>•  Сеть сократилась в 22 раза (66 → 3 филиала), но объём привлечённых средств вырос в 6 раз (97,3 → 585,1 млрд ₽).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181818"/>
                </a:solidFill>
                <a:latin typeface="Open Sans"/>
              </a:rPr>
              <a:t>•  Вклады на душу населения: 38 627 ₽ (2011) → 245 316 ₽ (2025).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181818"/>
                </a:solidFill>
                <a:latin typeface="Open Sans"/>
              </a:rPr>
              <a:t>•  Сбербанк концентрирует 51,8% вкладов населения области — 266,5 млрд ₽, 23-е место в РФ.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181818"/>
                </a:solidFill>
                <a:latin typeface="Open Sans"/>
              </a:rPr>
              <a:t>•  Банков 237 против 310 банкоматов (1 : 1,3); в образце по Белгородской области соотношение было 2 : 1.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181818"/>
                </a:solidFill>
                <a:latin typeface="Open Sans"/>
              </a:rPr>
              <a:t>•  Размещение сконцентрировано: Саратов — 372 объекта, Балаково — 43, Энгельс — 39, прочие — 93.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181818"/>
                </a:solidFill>
                <a:latin typeface="Open Sans"/>
              </a:rPr>
              <a:t>•  Инвестиции — 23,5% ВРП, сальдированный финансовый результат — 155,5 млрд 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02920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Ограничение: табл. 20.9 считает филиалы, а не дополнительные офисы и кассы. «3 филиала» нельзя читать как «3 отделения на область» — физическое присутствие измеряется по OSM (547 объектов).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Расчёт по данным Росстата (раздел 20) и OpenStreetMap.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 · Источники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Спрос на труд — микроданные, фактическое состояние — статистика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08760"/>
          <a:ext cx="110185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815"/>
                <a:gridCol w="5729630"/>
                <a:gridCol w="242407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Open Sans"/>
                        </a:rPr>
                        <a:t>Источник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Open Sans"/>
                        </a:rPr>
                        <a:t>Что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Open Sans"/>
                        </a:rPr>
                        <a:t>Зачем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API «Работа в России» (trudvsem)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Вакансии: профессия, зарплата от и до, работодатель с ИНН, адрес с координатами, требования, дата публикации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Спрос на труд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Росстат, раздел 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Занятость, средняя зарплата, структура по 14 видам деятельности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Фактическое состояние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00400"/>
            <a:ext cx="11018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81818"/>
                </a:solidFill>
                <a:latin typeface="Open Sans"/>
              </a:rPr>
              <a:t>Микроданные о вакансиях показывают заявленный спрос, статистика — фактическую занятость и оплату. Обоснование выбора trudvsem взято из образца: данные онлайн-вакансий коррелируют с официальной статистикой Росстата.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trudvsem.ru (открытые данные); Росстат, табл. 3.3, 3.5, 3.6, 4.6.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 · Парсинг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Какой скрипт что берёт и что делает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3518"/>
                <a:gridCol w="2093518"/>
                <a:gridCol w="4407408"/>
                <a:gridCol w="2424074"/>
              </a:tblGrid>
              <a:tr h="71323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Скрипт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Откуда берёт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Что делает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Результат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parse_vacancies_trudvsem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API портала «Работа в России», код региона 6400000000000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API отдаёт не более 200 записей на запрос, поэтому перебор идёт по 129 ключевым словам профессий (по 2 страницы на слово, 5 потоков); результаты складываются в словарь по id вакансии, поэтому дубликаты исчезают автоматически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4 183 уникальные вакансии из 7 939 активных (52,7%)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Раздел 3 сборника Росстата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Берёт занятость, среднюю зарплату и структуру по 14 видам деятельности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таблицы 3.3, 3.5, 3.6, 4.6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aggregate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objects_by_city.csv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Считает топы профессий и сфер, медианы и квартили зарплат, распределение по городам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таблицы в analiz/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5488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Ограничение: выборка не случайная — она смещена к профессиям из списка ключевых слов. Выводы формулируются как «в выборке», а не «в регионе».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Скрипты: parse_vacancies_trudvsem, rosstat_extract_region, aggregate; данные — data/labor/vacancies.csv.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 ·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за данные и что в них видно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Описание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Файл data/labor/vacancies.csv — 4 183 строки × 15 колонок.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Поля: id, профессия, зарплата от и до, работодатель и ИНН, город, координаты, дата публикации, сфера, опыт, образование, занятость, график.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Полнота: зарплата указана у 100% вакансий, координаты — у 96,1%.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Рядом лежит vacancies_raw.json — сырые ответы API, без обработки.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0" y="1737360"/>
          <a:ext cx="3017519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0161"/>
                <a:gridCol w="1267358"/>
              </a:tblGrid>
              <a:tr h="3108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Зарплаты,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Значение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Минимум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13 000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1-й квартиль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28 468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Медиана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38 000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Средняя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45 262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3-й квартиль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50 000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Максимум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275 000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1737360"/>
            <a:ext cx="4114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Топ-5 профессий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057400"/>
            <a:ext cx="4114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81818"/>
                </a:solidFill>
                <a:latin typeface="Open Sans"/>
              </a:rPr>
              <a:t>продавец-кассир (104) · пекарь (86) · дворник (77) · подсобный рабочий (72) · повар (67)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880360"/>
            <a:ext cx="4114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Топ-5 сфер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3200400"/>
            <a:ext cx="4114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81818"/>
                </a:solidFill>
                <a:latin typeface="Open Sans"/>
              </a:rPr>
              <a:t>здравоохранение (588) · продажи (460) · образование (439) · производство (360) · ЖКХ (235)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406908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81818"/>
                </a:solidFill>
                <a:latin typeface="Open Sans"/>
              </a:rPr>
              <a:t>Требуемый опыт: без опыта 56,7%, от 1 года 31,8% — итого 88,5% вакансий на опыт 0–1 год.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120640"/>
            <a:ext cx="11018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Для сравнения (Росстат, 2024): занято 1 147,9 тыс. человек, средняя зарплата 58 626 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API «Работа в России», выгрузка 06.10.2026; Росстат, табл. 3.3, 4.6.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 · 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показывают вакансии и статистика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Две крупнейшие по числу вакансий сферы оплачиваются хуже всех: образование — 439 вакансий при медиане 27 093 ₽, здравоохранение — 588 вакансий при 31 134 ₽. Спрос в бюджетном секторе не подкреплён оплатой.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Самая высокая медиана — в электроэнергетике (52 529 ₽), далее строительство (50 767 ₽) и транспорт (50 000 ₽).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Медиана предлагаемой зарплаты (38 000 ₽) ниже средней фактической по региону (58 626 ₽): это разные величины — объявления о вакансиях против начисленной зарплаты всех работников.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Спрос сконцентрирован: топ-10 работодателей дают 22,2% вакансий, при этом 476 работодателей имеют одну вакансию.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Структура спроса совпала с образцом: 88,5% вакансий на опыт 0–1 год против 90,4% по Белгородской области.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34924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23826"/>
                </a:solidFill>
                <a:latin typeface="Open Sans"/>
              </a:rPr>
              <a:t>Ограничение: выборка по ключевым словам (52,7% активных вакансий), смещена к массовым профессиям; категории присваивает сам сервис по типу работодателя.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Расчёт по данным API «Работа в России» и Росстата.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 · Источники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Три слоя объектов OSM и стоимостной разрез из статистики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08760"/>
          <a:ext cx="110185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5068519"/>
                <a:gridCol w="264444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Open Sans"/>
                        </a:rPr>
                        <a:t>Источник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Open Sans"/>
                        </a:rPr>
                        <a:t>Что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Open Sans"/>
                        </a:rPr>
                        <a:t>Зачем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OpenStreetMap: производство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industrial = любое значение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Где размещено производство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OpenStreetMap: услуги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shop = beauty, hairdresser, massage; leisure = tanning_salon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Сегмент бытовых услуг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OpenStreetMap: торговля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shop = supermarket, convenience, general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Розничная сеть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Росстат, табл. 1.1 и 9.4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Отгрузка, продукция АПК, оборот розницы, структура ВРП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Денежный масштаб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023360"/>
            <a:ext cx="11018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81818"/>
                </a:solidFill>
                <a:latin typeface="Open Sans"/>
              </a:rPr>
              <a:t>Теги взяты из образца без изменений — это позволяет сравнивать регионы на одной методике. В образце отмечено и ограничение: охвачены только производства, салоны красоты и магазины — без школ, больниц, аптек и кафе.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OpenStreetMap (выгрузка Geofabrik, октябрь 2026); Росстат, табл. 1.1, 9.4.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 · Парсинг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Какой скрипт что берёт и что делает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333"/>
                <a:gridCol w="1873148"/>
                <a:gridCol w="4848148"/>
                <a:gridCol w="2313889"/>
              </a:tblGrid>
              <a:tr h="7315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Скрипт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Откуда берёт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Что делает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Результат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Geofabrik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Скачивает выгрузку Приволжского федерального округа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PBF 775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parse_osm_objects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PBF + полигон границы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Отбирает объекты по тегам блока (industrial, shop, leisure), затем проверяет каждый объект тестом «точка внутри полигона» — фильтр идёт по реальной границе, а не по прямоугольнику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47 658 кандидатов → 1 885 объектов блока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assign_cities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Для каждого объекта ищет ближайший из 27 городов области — в OSM поле города почти не заполнено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52 территории; 96% объектов в пределах 30 км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206240"/>
            <a:ext cx="11018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Ограничения OSM, которые надо назвать: адрес улицы указан только у 18,9% объектов; розничные точки размечены хорошо, а промышленные площадки — плохо; поле brand или operator заполнено лишь у 20,7% магазинов.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Скрипты: download_osm_pbf, parse_osm_objects, assign_cities; данные — data/osm/objects_by_city.csv.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 ·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за данные и что в них видно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Описание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Объекты: 1 885 строк из data/osm/objects_by_city.csv (та же схема, что в финансовом блоке, плюс колонка settlement).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Категории: магазины, услуги, производства; одна строка = объект в одной категории.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Деньги: стоимостные показатели из табл. 1.1 сборника — отгрузка, продукция АПК, оборот розницы.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0" y="1737360"/>
          <a:ext cx="3566159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403"/>
                <a:gridCol w="855878"/>
                <a:gridCol w="855878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Формат магазинов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Доля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Магазин у дома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951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60,3%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Супермаркет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621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39,4%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Общий профиль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09560" y="1737360"/>
          <a:ext cx="367588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3121"/>
                <a:gridCol w="1102766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Производства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factory — завод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oil — нефть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gas — газ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warehouse, cement, прочие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3977639"/>
            <a:ext cx="11018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Денежный разрез (2024):  промышленность 1 039,3 млрд ₽  ·  сельское хозяйство 282,1 млрд ₽  ·  розничная торговля 648,5 млрд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72000"/>
            <a:ext cx="11018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В промышленности 76,9% отгрузки дают обрабатывающие производства — регион не сырьевой.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Услуги: 268 объектов (парикмахерские, салоны красоты, солярии) — только один сегмент сферы услуг.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OpenStreetMap, октябрь 2026; Росстат, табл. 1.1 (продолжение), 9.4.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 · 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Главное противоречие блока и его объяснение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18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923826"/>
                </a:solidFill>
                <a:latin typeface="Open Sans"/>
              </a:rPr>
              <a:t>По объектам OSM:  магазинов в 38 раз больше, чем производств (1 576 против 41).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923826"/>
                </a:solidFill>
                <a:latin typeface="Open Sans"/>
              </a:rPr>
              <a:t>По деньгам Росстата:  промышленность больше розницы в 1,6 раза (1 039,3 против 648,5 млрд ₽).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2316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81818"/>
                </a:solidFill>
                <a:latin typeface="Open Sans"/>
              </a:rPr>
              <a:t>Это не ошибка данных, а свойство источников: розничные точки в OSM размечены хорошо, промышленные площадки — плохо. Вывод: OSM описывает размещение, Росстат — масштаб; смешивать их в одном показателе нельзя.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3832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Торговля сконцентрирована: 63,5% магазинов — в Саратове, Балаково и Энгельсе; на один Саратов приходится 41,5%.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Малый формат преобладает над крупным примерно 3:2 (951 магазин у дома против 621 супермаркета).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Сети: Магнит — 122 объекта, Пятёрочка — 94, Гроздь — 22; всего 33 сети, но бренд указан лишь у 20,7% магазинов.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46% размеченных производств — нефть и газ (юго-восток области); по числу производств лидируют малые города: Балашов и Ершов — по 8.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Связь с занятостью: торговля — 234,6 тыс. человек (20,4% занятых), обработка — 154,4 тыс. (13,5%).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Расчёт по данным OpenStreetMap и Росстата.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Экономика индустриально-аграрная с доминирующим третичным сектором: 54,1% ВРП и 66,6% занятости.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Реальный сектор даёт 31,4% ВРП: обрабатывающие производства (17,6%) и сельское хозяйство (13,8%).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Население сокращается (–5,3% с 2010 г.) при росте ВРП в 3,6 раза — рост за счёт производительности.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Финансовый сектор: сеть сжалась в 22 раза (66 → 3 филиала), но вклады выросли в 6 раз — до 585,1 млрд ₽; 51,8% вкладов населения — в Сбербанке.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Рынок труда: медиана предлагаемой зарплаты 38 000 ₽ против 58 626 ₽ средней фактической; 88,5% вакансий — на опыт 0–1 год.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Спрос в образовании и здравоохранении самый высокий, а оплата самая низкая (27 093 и 31 134 ₽).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Рынок товаров и услуг: 63,5% магазинов — в трёх городах; промышленность по деньгам больше розницы в 1,6 раза, хотя по числу объектов OSM картина обратная.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Основа экономики — частный сектор: 81,6% организаций и 79,9% оборота; инвестиции — 23,5% ВРП.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ПбГУ">
      <a:dk1>
        <a:srgbClr val="181818"/>
      </a:dk1>
      <a:lt1>
        <a:sysClr val="window" lastClr="FFFFFF"/>
      </a:lt1>
      <a:dk2>
        <a:srgbClr val="632423"/>
      </a:dk2>
      <a:lt2>
        <a:srgbClr val="FBF9F7"/>
      </a:lt2>
      <a:accent1>
        <a:srgbClr val="4F81BD"/>
      </a:accent1>
      <a:accent2>
        <a:srgbClr val="C0504D"/>
      </a:accent2>
      <a:accent3>
        <a:srgbClr val="923826"/>
      </a:accent3>
      <a:accent4>
        <a:srgbClr val="8064A2"/>
      </a:accent4>
      <a:accent5>
        <a:srgbClr val="8FAADC"/>
      </a:accent5>
      <a:accent6>
        <a:srgbClr val="AE6464"/>
      </a:accent6>
      <a:hlink>
        <a:srgbClr val="F2F2F2"/>
      </a:hlink>
      <a:folHlink>
        <a:srgbClr val="0070C0"/>
      </a:folHlink>
    </a:clrScheme>
    <a:fontScheme name="СПбГУ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D8C519613280949AA22B76DC3D9D7B2" ma:contentTypeVersion="17" ma:contentTypeDescription="Создание документа." ma:contentTypeScope="" ma:versionID="c1aee2efb7f4004aed17619c1a5733c5">
  <xsd:schema xmlns:xsd="http://www.w3.org/2001/XMLSchema" xmlns:xs="http://www.w3.org/2001/XMLSchema" xmlns:p="http://schemas.microsoft.com/office/2006/metadata/properties" xmlns:ns1="http://schemas.microsoft.com/sharepoint/v3" xmlns:ns2="9a63fdcb-41de-41b7-a29c-51f72461a67b" xmlns:ns3="02abcde4-0d41-4d92-9ad7-003839eabdeb" targetNamespace="http://schemas.microsoft.com/office/2006/metadata/properties" ma:root="true" ma:fieldsID="3d5820956cb7eaded5206240577e0de0" ns1:_="" ns2:_="" ns3:_="">
    <xsd:import namespace="http://schemas.microsoft.com/sharepoint/v3"/>
    <xsd:import namespace="9a63fdcb-41de-41b7-a29c-51f72461a67b"/>
    <xsd:import namespace="02abcde4-0d41-4d92-9ad7-003839eabde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Свойства единой политики соответствия требованиям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Действие с пользовательским интерфейсом в рамках единой политики соответствия требованиям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3fdcb-41de-41b7-a29c-51f72461a6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Теги изображений" ma:readOnly="false" ma:fieldId="{5cf76f15-5ced-4ddc-b409-7134ff3c332f}" ma:taxonomyMulti="true" ma:sspId="3dac30f7-4b6a-4d0c-a073-8dcd7cc3cb6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abcde4-0d41-4d92-9ad7-003839eabde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50e6830-2c83-4f36-8696-426a14030bf5}" ma:internalName="TaxCatchAll" ma:showField="CatchAllData" ma:web="02abcde4-0d41-4d92-9ad7-003839eabde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02abcde4-0d41-4d92-9ad7-003839eabdeb" xsi:nil="true"/>
    <lcf76f155ced4ddcb4097134ff3c332f xmlns="9a63fdcb-41de-41b7-a29c-51f72461a67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AE8BD70-FE7F-4E2E-8A0C-B56C29E7533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D7F0394-DA30-41D1-BA79-55D90E960F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a63fdcb-41de-41b7-a29c-51f72461a67b"/>
    <ds:schemaRef ds:uri="02abcde4-0d41-4d92-9ad7-003839eabd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B233416-0D41-4853-A815-5627BA43D3C0}">
  <ds:schemaRefs>
    <ds:schemaRef ds:uri="http://purl.org/dc/terms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9a63fdcb-41de-41b7-a29c-51f72461a67b"/>
    <ds:schemaRef ds:uri="02abcde4-0d41-4d92-9ad7-003839eabdeb"/>
    <ds:schemaRef ds:uri="http://schemas.microsoft.com/sharepoint/v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10867</TotalTime>
  <Words>0</Words>
  <Application>Microsoft Office PowerPoint</Application>
  <PresentationFormat>Широкоэкранный</PresentationFormat>
  <Paragraphs>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Open Sans</vt:lpstr>
      <vt:lpstr>Open Sans Extrabold</vt:lpstr>
      <vt:lpstr>Open Sans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Надежда Лапшина</dc:creator>
  <cp:lastModifiedBy>Князев Егор Юрьевич</cp:lastModifiedBy>
  <cp:revision>612</cp:revision>
  <dcterms:created xsi:type="dcterms:W3CDTF">2020-09-23T09:03:25Z</dcterms:created>
  <dcterms:modified xsi:type="dcterms:W3CDTF">2026-05-15T16:41:13Z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0x010100CD8C519613280949AA22B76DC3D9D7B2</vt:lpwstr>
  </property>
  <property fmtid="{D5CDD505-2E9C-101B-9397-08002B2CF9AE}" pid="3" name="MediaServiceImageTags">
    <vt:lpwstr/>
  </property>
</Properties>
</file>